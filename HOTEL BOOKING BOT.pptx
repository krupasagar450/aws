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5" r:id="rId3"/>
    <p:sldId id="266" r:id="rId4"/>
    <p:sldId id="257" r:id="rId5"/>
    <p:sldId id="258" r:id="rId6"/>
    <p:sldId id="259" r:id="rId7"/>
    <p:sldId id="267" r:id="rId8"/>
    <p:sldId id="260" r:id="rId9"/>
    <p:sldId id="261" r:id="rId10"/>
    <p:sldId id="264" r:id="rId11"/>
    <p:sldId id="262" r:id="rId12"/>
    <p:sldId id="263" r:id="rId13"/>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79FC95-23E3-4CCA-B634-CCC973CDC53D}" v="1" dt="2025-07-10T14:49:36.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17" autoAdjust="0"/>
    <p:restoredTop sz="91895" autoAdjust="0"/>
  </p:normalViewPr>
  <p:slideViewPr>
    <p:cSldViewPr snapToGrid="0" snapToObjects="1">
      <p:cViewPr varScale="1">
        <p:scale>
          <a:sx n="63" d="100"/>
          <a:sy n="63" d="100"/>
        </p:scale>
        <p:origin x="13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l" userId="a2666ea90b5df38d" providerId="LiveId" clId="{D679FC95-23E3-4CCA-B634-CCC973CDC53D}"/>
    <pc:docChg chg="undo custSel addSld modSld">
      <pc:chgData name="surya l" userId="a2666ea90b5df38d" providerId="LiveId" clId="{D679FC95-23E3-4CCA-B634-CCC973CDC53D}" dt="2025-07-10T14:49:36.989" v="539" actId="931"/>
      <pc:docMkLst>
        <pc:docMk/>
      </pc:docMkLst>
      <pc:sldChg chg="addSp modSp add mod">
        <pc:chgData name="surya l" userId="a2666ea90b5df38d" providerId="LiveId" clId="{D679FC95-23E3-4CCA-B634-CCC973CDC53D}" dt="2025-07-10T14:49:36.989" v="539" actId="931"/>
        <pc:sldMkLst>
          <pc:docMk/>
          <pc:sldMk cId="91610969" sldId="267"/>
        </pc:sldMkLst>
        <pc:spChg chg="mod">
          <ac:chgData name="surya l" userId="a2666ea90b5df38d" providerId="LiveId" clId="{D679FC95-23E3-4CCA-B634-CCC973CDC53D}" dt="2025-07-10T14:47:11.277" v="97" actId="20577"/>
          <ac:spMkLst>
            <pc:docMk/>
            <pc:sldMk cId="91610969" sldId="267"/>
            <ac:spMk id="7" creationId="{D92879FE-7728-458A-68A0-1EE670A60025}"/>
          </ac:spMkLst>
        </pc:spChg>
        <pc:spChg chg="mod">
          <ac:chgData name="surya l" userId="a2666ea90b5df38d" providerId="LiveId" clId="{D679FC95-23E3-4CCA-B634-CCC973CDC53D}" dt="2025-07-10T14:47:27.418" v="266" actId="20577"/>
          <ac:spMkLst>
            <pc:docMk/>
            <pc:sldMk cId="91610969" sldId="267"/>
            <ac:spMk id="8" creationId="{BE236CA1-D341-D346-1ECA-4707B89619F6}"/>
          </ac:spMkLst>
        </pc:spChg>
        <pc:spChg chg="mod">
          <ac:chgData name="surya l" userId="a2666ea90b5df38d" providerId="LiveId" clId="{D679FC95-23E3-4CCA-B634-CCC973CDC53D}" dt="2025-07-10T14:46:37.158" v="73" actId="20577"/>
          <ac:spMkLst>
            <pc:docMk/>
            <pc:sldMk cId="91610969" sldId="267"/>
            <ac:spMk id="9" creationId="{002B044C-FF12-F248-6B89-4D8942A3C858}"/>
          </ac:spMkLst>
        </pc:spChg>
        <pc:spChg chg="mod">
          <ac:chgData name="surya l" userId="a2666ea90b5df38d" providerId="LiveId" clId="{D679FC95-23E3-4CCA-B634-CCC973CDC53D}" dt="2025-07-10T14:47:18.967" v="243" actId="20577"/>
          <ac:spMkLst>
            <pc:docMk/>
            <pc:sldMk cId="91610969" sldId="267"/>
            <ac:spMk id="10" creationId="{AD64AA59-82B3-C089-B963-A2B94ABE2DBE}"/>
          </ac:spMkLst>
        </pc:spChg>
        <pc:spChg chg="mod">
          <ac:chgData name="surya l" userId="a2666ea90b5df38d" providerId="LiveId" clId="{D679FC95-23E3-4CCA-B634-CCC973CDC53D}" dt="2025-07-10T14:47:35.108" v="390" actId="20577"/>
          <ac:spMkLst>
            <pc:docMk/>
            <pc:sldMk cId="91610969" sldId="267"/>
            <ac:spMk id="11" creationId="{66558DE3-CCE3-3447-E3A7-89D774CDE71B}"/>
          </ac:spMkLst>
        </pc:spChg>
        <pc:spChg chg="mod">
          <ac:chgData name="surya l" userId="a2666ea90b5df38d" providerId="LiveId" clId="{D679FC95-23E3-4CCA-B634-CCC973CDC53D}" dt="2025-07-10T14:48:00.412" v="538" actId="20577"/>
          <ac:spMkLst>
            <pc:docMk/>
            <pc:sldMk cId="91610969" sldId="267"/>
            <ac:spMk id="12" creationId="{77BFF69F-73FA-2E3F-3F10-1F857DB9F736}"/>
          </ac:spMkLst>
        </pc:spChg>
        <pc:spChg chg="mod">
          <ac:chgData name="surya l" userId="a2666ea90b5df38d" providerId="LiveId" clId="{D679FC95-23E3-4CCA-B634-CCC973CDC53D}" dt="2025-07-10T14:47:53.977" v="418" actId="20577"/>
          <ac:spMkLst>
            <pc:docMk/>
            <pc:sldMk cId="91610969" sldId="267"/>
            <ac:spMk id="13" creationId="{93962DBB-5637-D34F-9CA7-1E2D38837458}"/>
          </ac:spMkLst>
        </pc:spChg>
        <pc:picChg chg="mod">
          <ac:chgData name="surya l" userId="a2666ea90b5df38d" providerId="LiveId" clId="{D679FC95-23E3-4CCA-B634-CCC973CDC53D}" dt="2025-07-10T14:46:00.867" v="23" actId="1076"/>
          <ac:picMkLst>
            <pc:docMk/>
            <pc:sldMk cId="91610969" sldId="267"/>
            <ac:picMk id="2" creationId="{E6489C24-E2CA-832E-4B92-A98237B33E7D}"/>
          </ac:picMkLst>
        </pc:picChg>
        <pc:picChg chg="add mod">
          <ac:chgData name="surya l" userId="a2666ea90b5df38d" providerId="LiveId" clId="{D679FC95-23E3-4CCA-B634-CCC973CDC53D}" dt="2025-07-10T14:49:36.989" v="539" actId="931"/>
          <ac:picMkLst>
            <pc:docMk/>
            <pc:sldMk cId="91610969" sldId="267"/>
            <ac:picMk id="4" creationId="{58F77F66-EF60-712E-3291-8E8F2D6BFEC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732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7110-44D5-D99F-76D6-C8C762138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E8888-EAE3-07A7-C138-6D03B013D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A3137-38A5-3BB9-CD8E-95AFA0BEE9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C616A8-A5A7-A8EF-82DD-7615944A263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63428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152FE-0360-0805-AEE1-6938BE080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FD8A2-D591-6023-F4D5-0090BBBD5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3E952-F565-595B-58F5-B81A7A7AD0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0E401C-C6D4-2CAE-6C4F-5B5F728D024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9799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40D3C-2C8C-F1C9-0000-23FAE22FE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EB168-C7DA-970A-956B-BF590DBA6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B1EC0-DF0B-7E79-A206-9E0AE8C3E6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61951E-A9B9-E2E7-44C0-0C9BE68D57B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08451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29ACC-5D37-E695-CA76-621F9BC6A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9F0E5-733F-132A-D882-468BA5ABB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1F76-4817-D8E5-E763-A04AEF8E91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6B10D8-C1ED-2AE2-5A79-5958506A201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0159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44"/>
            <a:ext cx="14630400" cy="8238744"/>
          </a:xfrm>
          <a:prstGeom prst="rect">
            <a:avLst/>
          </a:prstGeom>
        </p:spPr>
      </p:pic>
      <p:sp>
        <p:nvSpPr>
          <p:cNvPr id="4" name="Text 0"/>
          <p:cNvSpPr/>
          <p:nvPr/>
        </p:nvSpPr>
        <p:spPr>
          <a:xfrm>
            <a:off x="832104" y="2642616"/>
            <a:ext cx="8010144" cy="1024128"/>
          </a:xfrm>
          <a:prstGeom prst="rect">
            <a:avLst/>
          </a:prstGeom>
          <a:noFill/>
          <a:ln/>
        </p:spPr>
        <p:txBody>
          <a:bodyPr wrap="none" lIns="0" tIns="0" rIns="0" bIns="0" rtlCol="0" anchor="ctr"/>
          <a:lstStyle/>
          <a:p>
            <a:pPr marL="0" indent="0" algn="l">
              <a:lnSpc>
                <a:spcPts val="8010"/>
              </a:lnSpc>
              <a:buNone/>
            </a:pPr>
            <a:endParaRPr lang="en-US" sz="6410" dirty="0"/>
          </a:p>
        </p:txBody>
      </p:sp>
      <p:sp>
        <p:nvSpPr>
          <p:cNvPr id="5" name="Text 1"/>
          <p:cNvSpPr/>
          <p:nvPr/>
        </p:nvSpPr>
        <p:spPr>
          <a:xfrm>
            <a:off x="832104" y="3922776"/>
            <a:ext cx="8010144" cy="1417320"/>
          </a:xfrm>
          <a:prstGeom prst="rect">
            <a:avLst/>
          </a:prstGeom>
          <a:noFill/>
          <a:ln/>
        </p:spPr>
        <p:txBody>
          <a:bodyPr wrap="square" lIns="0" tIns="0" rIns="0" bIns="0" rtlCol="0" anchor="ctr"/>
          <a:lstStyle/>
          <a:p>
            <a:pPr marL="0" indent="0" algn="l">
              <a:lnSpc>
                <a:spcPts val="2780"/>
              </a:lnSpc>
              <a:buNone/>
            </a:pPr>
            <a:endParaRPr lang="en-US" sz="1850" dirty="0"/>
          </a:p>
        </p:txBody>
      </p:sp>
      <p:sp>
        <p:nvSpPr>
          <p:cNvPr id="6" name="TextBox 5">
            <a:extLst>
              <a:ext uri="{FF2B5EF4-FFF2-40B4-BE49-F238E27FC236}">
                <a16:creationId xmlns:a16="http://schemas.microsoft.com/office/drawing/2014/main" id="{EB554CE1-2181-0FE8-5E04-AF88FB2AD85D}"/>
              </a:ext>
            </a:extLst>
          </p:cNvPr>
          <p:cNvSpPr txBox="1"/>
          <p:nvPr/>
        </p:nvSpPr>
        <p:spPr>
          <a:xfrm>
            <a:off x="1487424" y="1239215"/>
            <a:ext cx="10619232" cy="3724096"/>
          </a:xfrm>
          <a:prstGeom prst="rect">
            <a:avLst/>
          </a:prstGeom>
          <a:noFill/>
        </p:spPr>
        <p:txBody>
          <a:bodyPr wrap="square" rtlCol="0">
            <a:spAutoFit/>
          </a:bodyPr>
          <a:lstStyle/>
          <a:p>
            <a:r>
              <a:rPr lang="en-US" sz="4400" dirty="0"/>
              <a:t>                              </a:t>
            </a:r>
            <a:r>
              <a:rPr lang="en-US" sz="3600" b="1" dirty="0">
                <a:latin typeface="Times New Roman" panose="02020603050405020304" pitchFamily="18" charset="0"/>
                <a:cs typeface="Times New Roman" panose="02020603050405020304" pitchFamily="18" charset="0"/>
              </a:rPr>
              <a:t>PROJECT ON </a:t>
            </a:r>
          </a:p>
          <a:p>
            <a:r>
              <a:rPr lang="en-US" sz="3200" dirty="0"/>
              <a:t>         </a:t>
            </a:r>
            <a:r>
              <a:rPr lang="en-US" sz="3200" dirty="0">
                <a:latin typeface="Times New Roman" panose="02020603050405020304" pitchFamily="18" charset="0"/>
                <a:cs typeface="Times New Roman" panose="02020603050405020304" pitchFamily="18" charset="0"/>
              </a:rPr>
              <a:t>   HOTEL BOOKING BOT BY USING  AMAZON LEX,</a:t>
            </a:r>
          </a:p>
          <a:p>
            <a:pPr algn="ctr"/>
            <a:r>
              <a:rPr lang="en-US" sz="3200" dirty="0">
                <a:latin typeface="Times New Roman" panose="02020603050405020304" pitchFamily="18" charset="0"/>
                <a:cs typeface="Times New Roman" panose="02020603050405020304" pitchFamily="18" charset="0"/>
              </a:rPr>
              <a:t>           AMAZON LAMBDA(PYTHON</a:t>
            </a:r>
            <a:r>
              <a:rPr lang="en-IN" sz="3200" dirty="0">
                <a:latin typeface="Times New Roman" panose="02020603050405020304" pitchFamily="18" charset="0"/>
                <a:cs typeface="Times New Roman" panose="02020603050405020304" pitchFamily="18" charset="0"/>
              </a:rPr>
              <a:t>),TWILIO SERVICES </a:t>
            </a:r>
            <a:r>
              <a:rPr lang="en-IN" sz="3600" dirty="0"/>
              <a:t> </a:t>
            </a:r>
          </a:p>
          <a:p>
            <a:pPr algn="ctr"/>
            <a:r>
              <a:rPr lang="en-IN" sz="2800" dirty="0">
                <a:latin typeface="Times New Roman" panose="02020603050405020304" pitchFamily="18" charset="0"/>
                <a:cs typeface="Times New Roman" panose="02020603050405020304" pitchFamily="18" charset="0"/>
              </a:rPr>
              <a:t>Under the Guidance of </a:t>
            </a:r>
          </a:p>
          <a:p>
            <a:pPr algn="ctr"/>
            <a:endParaRPr lang="en-IN" sz="3200" dirty="0">
              <a:latin typeface="Times New Roman" panose="02020603050405020304" pitchFamily="18" charset="0"/>
              <a:cs typeface="Times New Roman" panose="02020603050405020304" pitchFamily="18" charset="0"/>
            </a:endParaRPr>
          </a:p>
          <a:p>
            <a:pPr algn="ctr"/>
            <a:r>
              <a:rPr lang="en-IN" sz="3200" dirty="0">
                <a:latin typeface="Times New Roman" panose="02020603050405020304" pitchFamily="18" charset="0"/>
                <a:cs typeface="Times New Roman" panose="02020603050405020304" pitchFamily="18" charset="0"/>
              </a:rPr>
              <a:t>Mrs. Sumana </a:t>
            </a:r>
            <a:r>
              <a:rPr lang="en-IN" sz="3200" dirty="0" err="1">
                <a:latin typeface="Times New Roman" panose="02020603050405020304" pitchFamily="18" charset="0"/>
                <a:cs typeface="Times New Roman" panose="02020603050405020304" pitchFamily="18" charset="0"/>
              </a:rPr>
              <a:t>Bethala</a:t>
            </a:r>
            <a:r>
              <a:rPr lang="en-IN" sz="3200" dirty="0">
                <a:latin typeface="Times New Roman" panose="02020603050405020304" pitchFamily="18" charset="0"/>
                <a:cs typeface="Times New Roman" panose="02020603050405020304" pitchFamily="18" charset="0"/>
              </a:rPr>
              <a:t>, APSSDC</a:t>
            </a:r>
          </a:p>
          <a:p>
            <a:pPr algn="ctr"/>
            <a:r>
              <a:rPr lang="en-IN" sz="3200" dirty="0">
                <a:latin typeface="Times New Roman" panose="02020603050405020304" pitchFamily="18" charset="0"/>
                <a:cs typeface="Times New Roman" panose="02020603050405020304" pitchFamily="18" charset="0"/>
              </a:rPr>
              <a:t>Mr. Anil Kumar Varanasi, APSSDC</a:t>
            </a:r>
            <a:endParaRPr lang="en-US"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ADF4897-CD7F-376D-3236-0B36A291C2E9}"/>
              </a:ext>
            </a:extLst>
          </p:cNvPr>
          <p:cNvSpPr txBox="1"/>
          <p:nvPr/>
        </p:nvSpPr>
        <p:spPr>
          <a:xfrm>
            <a:off x="6797040" y="5473776"/>
            <a:ext cx="8558784" cy="2677656"/>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Presented by our Team </a:t>
            </a:r>
          </a:p>
          <a:p>
            <a:r>
              <a:rPr lang="en-IN" sz="2800" dirty="0"/>
              <a:t>Villa Krupa Sagar, 22MH1A04J1</a:t>
            </a:r>
          </a:p>
          <a:p>
            <a:r>
              <a:rPr lang="en-IN" sz="2800" dirty="0" err="1"/>
              <a:t>Losetty</a:t>
            </a:r>
            <a:r>
              <a:rPr lang="en-IN" sz="2800" dirty="0"/>
              <a:t> Surya Naga Anantha Swamy, 22MH1A04H4 Panuganti Rama Venkat,22MH1A04H8 </a:t>
            </a:r>
          </a:p>
          <a:p>
            <a:r>
              <a:rPr lang="en-IN" sz="2800" dirty="0"/>
              <a:t>Grandhi Sai Tanooj,22MH1A04G8 </a:t>
            </a:r>
          </a:p>
          <a:p>
            <a:r>
              <a:rPr lang="en-IN" sz="2800" dirty="0" err="1"/>
              <a:t>Parchuri</a:t>
            </a:r>
            <a:r>
              <a:rPr lang="en-IN" sz="2800" dirty="0"/>
              <a:t> Vineeth,23MH5A0415</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5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C324-E5AF-6214-15AC-05E6F470035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A386B49-03AD-8478-772B-9A520E44EA6C}"/>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18C1C255-4951-1F31-29EE-7F11487CEB44}"/>
              </a:ext>
            </a:extLst>
          </p:cNvPr>
          <p:cNvPicPr>
            <a:picLocks noChangeAspect="1"/>
          </p:cNvPicPr>
          <p:nvPr/>
        </p:nvPicPr>
        <p:blipFill>
          <a:blip r:embed="rId4"/>
          <a:stretch>
            <a:fillRect/>
          </a:stretch>
        </p:blipFill>
        <p:spPr>
          <a:xfrm>
            <a:off x="9656064" y="0"/>
            <a:ext cx="4974336" cy="8238744"/>
          </a:xfrm>
          <a:prstGeom prst="rect">
            <a:avLst/>
          </a:prstGeom>
        </p:spPr>
      </p:pic>
      <p:sp>
        <p:nvSpPr>
          <p:cNvPr id="4" name="Text 0">
            <a:extLst>
              <a:ext uri="{FF2B5EF4-FFF2-40B4-BE49-F238E27FC236}">
                <a16:creationId xmlns:a16="http://schemas.microsoft.com/office/drawing/2014/main" id="{205DECC0-02D1-4CB8-C167-276004A07719}"/>
              </a:ext>
            </a:extLst>
          </p:cNvPr>
          <p:cNvSpPr/>
          <p:nvPr/>
        </p:nvSpPr>
        <p:spPr>
          <a:xfrm>
            <a:off x="832104" y="2654808"/>
            <a:ext cx="8010144" cy="1024128"/>
          </a:xfrm>
          <a:prstGeom prst="rect">
            <a:avLst/>
          </a:prstGeom>
          <a:noFill/>
          <a:ln/>
        </p:spPr>
        <p:txBody>
          <a:bodyPr wrap="none" lIns="0" tIns="0" rIns="0" bIns="0" rtlCol="0" anchor="ctr"/>
          <a:lstStyle/>
          <a:p>
            <a:pPr marL="0" indent="0" algn="l">
              <a:lnSpc>
                <a:spcPts val="8010"/>
              </a:lnSpc>
              <a:buNone/>
            </a:pPr>
            <a:r>
              <a:rPr lang="en-US" sz="641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Hotel Booking Bot</a:t>
            </a:r>
            <a:endParaRPr lang="en-US" sz="641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1436DA28-5AF3-BA4A-8EC6-4620D6D0BEE1}"/>
              </a:ext>
            </a:extLst>
          </p:cNvPr>
          <p:cNvSpPr/>
          <p:nvPr/>
        </p:nvSpPr>
        <p:spPr>
          <a:xfrm>
            <a:off x="832104" y="3934968"/>
            <a:ext cx="8010144" cy="1417320"/>
          </a:xfrm>
          <a:prstGeom prst="rect">
            <a:avLst/>
          </a:prstGeom>
          <a:noFill/>
          <a:ln/>
        </p:spPr>
        <p:txBody>
          <a:bodyPr wrap="square" lIns="0" tIns="0" rIns="0" bIns="0" rtlCol="0" anchor="ctr"/>
          <a:lstStyle/>
          <a:p>
            <a:pPr marL="0" indent="0" algn="l">
              <a:lnSpc>
                <a:spcPts val="2780"/>
              </a:lnSpc>
              <a:buNone/>
            </a:pPr>
            <a:r>
              <a:rPr lang="en-US" sz="185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This presentation explores the development of a hotel booking bot using Amazon Lex, AWS Lambda, and Twilio. It details the architecture, implementation, and benefits of integrating these technologies for streamlined hotel reservations.</a:t>
            </a:r>
            <a:endParaRPr lang="en-US" sz="18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1215719"/>
      </p:ext>
    </p:extLst>
  </p:cSld>
  <p:clrMapOvr>
    <a:masterClrMapping/>
  </p:clrMapOvr>
  <mc:AlternateContent xmlns:mc="http://schemas.openxmlformats.org/markup-compatibility/2006" xmlns:p14="http://schemas.microsoft.com/office/powerpoint/2010/main">
    <mc:Choice Requires="p14">
      <p:transition spd="slow" p14:dur="5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B1A29-D055-7C0D-747D-2D8FB06CFD0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C37BA9D-1520-7B62-3E32-735F089928F0}"/>
              </a:ext>
            </a:extLst>
          </p:cNvPr>
          <p:cNvPicPr>
            <a:picLocks noChangeAspect="1"/>
          </p:cNvPicPr>
          <p:nvPr/>
        </p:nvPicPr>
        <p:blipFill>
          <a:blip r:embed="rId3"/>
          <a:stretch>
            <a:fillRect/>
          </a:stretch>
        </p:blipFill>
        <p:spPr>
          <a:xfrm>
            <a:off x="0" y="0"/>
            <a:ext cx="14630400" cy="8238744"/>
          </a:xfrm>
          <a:prstGeom prst="rect">
            <a:avLst/>
          </a:prstGeom>
        </p:spPr>
      </p:pic>
      <p:sp>
        <p:nvSpPr>
          <p:cNvPr id="7" name="Text 0">
            <a:extLst>
              <a:ext uri="{FF2B5EF4-FFF2-40B4-BE49-F238E27FC236}">
                <a16:creationId xmlns:a16="http://schemas.microsoft.com/office/drawing/2014/main" id="{C4284727-7438-A9ED-7D19-22DF0D7E23B8}"/>
              </a:ext>
            </a:extLst>
          </p:cNvPr>
          <p:cNvSpPr/>
          <p:nvPr/>
        </p:nvSpPr>
        <p:spPr>
          <a:xfrm>
            <a:off x="1078992" y="3163824"/>
            <a:ext cx="3675888" cy="374904"/>
          </a:xfrm>
          <a:prstGeom prst="rect">
            <a:avLst/>
          </a:prstGeom>
          <a:noFill/>
          <a:ln/>
        </p:spPr>
        <p:txBody>
          <a:bodyPr wrap="none" lIns="0" tIns="0" rIns="0" bIns="0" rtlCol="0" anchor="ctr"/>
          <a:lstStyle/>
          <a:p>
            <a:pPr marL="0" indent="0" algn="ctr">
              <a:lnSpc>
                <a:spcPts val="2900"/>
              </a:lnSpc>
              <a:buNone/>
            </a:pPr>
            <a:endParaRPr lang="en-US" sz="2320" dirty="0">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8B8C2862-C849-4985-B981-30C2B86628D2}"/>
              </a:ext>
            </a:extLst>
          </p:cNvPr>
          <p:cNvSpPr/>
          <p:nvPr/>
        </p:nvSpPr>
        <p:spPr>
          <a:xfrm>
            <a:off x="5486400" y="3163824"/>
            <a:ext cx="3675888" cy="374904"/>
          </a:xfrm>
          <a:prstGeom prst="rect">
            <a:avLst/>
          </a:prstGeom>
          <a:noFill/>
          <a:ln/>
        </p:spPr>
        <p:txBody>
          <a:bodyPr wrap="none" lIns="0" tIns="0" rIns="0" bIns="0" rtlCol="0" anchor="ctr"/>
          <a:lstStyle/>
          <a:p>
            <a:pPr marL="0" indent="0" algn="ctr">
              <a:lnSpc>
                <a:spcPts val="2900"/>
              </a:lnSpc>
              <a:buNone/>
            </a:pPr>
            <a:endParaRPr lang="en-US" sz="2320" dirty="0">
              <a:latin typeface="Times New Roman" panose="02020603050405020304" pitchFamily="18" charset="0"/>
              <a:cs typeface="Times New Roman" panose="02020603050405020304" pitchFamily="18" charset="0"/>
            </a:endParaRPr>
          </a:p>
        </p:txBody>
      </p:sp>
      <p:sp>
        <p:nvSpPr>
          <p:cNvPr id="9" name="Text 2">
            <a:extLst>
              <a:ext uri="{FF2B5EF4-FFF2-40B4-BE49-F238E27FC236}">
                <a16:creationId xmlns:a16="http://schemas.microsoft.com/office/drawing/2014/main" id="{ED01A325-2233-37F6-DA7E-C88B769867C5}"/>
              </a:ext>
            </a:extLst>
          </p:cNvPr>
          <p:cNvSpPr/>
          <p:nvPr/>
        </p:nvSpPr>
        <p:spPr>
          <a:xfrm>
            <a:off x="475488" y="487680"/>
            <a:ext cx="13341096" cy="1407997"/>
          </a:xfrm>
          <a:prstGeom prst="rect">
            <a:avLst/>
          </a:prstGeom>
          <a:noFill/>
          <a:ln/>
        </p:spPr>
        <p:txBody>
          <a:bodyPr wrap="none" lIns="0" tIns="0" rIns="0" bIns="0" rtlCol="0" anchor="ctr"/>
          <a:lstStyle/>
          <a:p>
            <a:pPr marL="0" indent="0" algn="l">
              <a:lnSpc>
                <a:spcPts val="5800"/>
              </a:lnSpc>
              <a:buNone/>
            </a:pPr>
            <a:r>
              <a:rPr lang="en-US" sz="4600" dirty="0">
                <a:latin typeface="Times New Roman" panose="02020603050405020304" pitchFamily="18" charset="0"/>
                <a:cs typeface="Times New Roman" panose="02020603050405020304" pitchFamily="18" charset="0"/>
              </a:rPr>
              <a:t>Problem statement</a:t>
            </a:r>
          </a:p>
        </p:txBody>
      </p:sp>
      <p:sp>
        <p:nvSpPr>
          <p:cNvPr id="10" name="Text 3">
            <a:extLst>
              <a:ext uri="{FF2B5EF4-FFF2-40B4-BE49-F238E27FC236}">
                <a16:creationId xmlns:a16="http://schemas.microsoft.com/office/drawing/2014/main" id="{2DB62C94-9C04-3A6C-89A4-A92587F13FE8}"/>
              </a:ext>
            </a:extLst>
          </p:cNvPr>
          <p:cNvSpPr/>
          <p:nvPr/>
        </p:nvSpPr>
        <p:spPr>
          <a:xfrm>
            <a:off x="1078992" y="3675888"/>
            <a:ext cx="3675888" cy="2130552"/>
          </a:xfrm>
          <a:prstGeom prst="rect">
            <a:avLst/>
          </a:prstGeom>
          <a:noFill/>
          <a:ln/>
        </p:spPr>
        <p:txBody>
          <a:bodyPr wrap="square" lIns="0" tIns="0" rIns="0" bIns="0" rtlCol="0" anchor="ctr"/>
          <a:lstStyle/>
          <a:p>
            <a:pPr marL="0" indent="0" algn="ctr">
              <a:lnSpc>
                <a:spcPts val="2780"/>
              </a:lnSpc>
              <a:buNone/>
            </a:pPr>
            <a:endParaRPr lang="en-US" sz="1850" dirty="0">
              <a:latin typeface="Times New Roman" panose="02020603050405020304" pitchFamily="18" charset="0"/>
              <a:cs typeface="Times New Roman" panose="02020603050405020304" pitchFamily="18" charset="0"/>
            </a:endParaRPr>
          </a:p>
        </p:txBody>
      </p:sp>
      <p:sp>
        <p:nvSpPr>
          <p:cNvPr id="11" name="Text 4">
            <a:extLst>
              <a:ext uri="{FF2B5EF4-FFF2-40B4-BE49-F238E27FC236}">
                <a16:creationId xmlns:a16="http://schemas.microsoft.com/office/drawing/2014/main" id="{F2787917-926D-613E-F232-92533FBCF239}"/>
              </a:ext>
            </a:extLst>
          </p:cNvPr>
          <p:cNvSpPr/>
          <p:nvPr/>
        </p:nvSpPr>
        <p:spPr>
          <a:xfrm>
            <a:off x="5486400" y="3675888"/>
            <a:ext cx="3675888" cy="1773936"/>
          </a:xfrm>
          <a:prstGeom prst="rect">
            <a:avLst/>
          </a:prstGeom>
          <a:noFill/>
          <a:ln/>
        </p:spPr>
        <p:txBody>
          <a:bodyPr wrap="square" lIns="0" tIns="0" rIns="0" bIns="0" rtlCol="0" anchor="ctr"/>
          <a:lstStyle/>
          <a:p>
            <a:pPr marL="0" indent="0" algn="ctr">
              <a:lnSpc>
                <a:spcPts val="2780"/>
              </a:lnSpc>
              <a:buNone/>
            </a:pPr>
            <a:endParaRPr lang="en-US" sz="1850" dirty="0">
              <a:latin typeface="Times New Roman" panose="02020603050405020304" pitchFamily="18" charset="0"/>
              <a:cs typeface="Times New Roman" panose="02020603050405020304" pitchFamily="18" charset="0"/>
            </a:endParaRPr>
          </a:p>
        </p:txBody>
      </p:sp>
      <p:sp>
        <p:nvSpPr>
          <p:cNvPr id="12" name="Text 5">
            <a:extLst>
              <a:ext uri="{FF2B5EF4-FFF2-40B4-BE49-F238E27FC236}">
                <a16:creationId xmlns:a16="http://schemas.microsoft.com/office/drawing/2014/main" id="{7A100995-39C5-2030-A2E7-68454BD360FA}"/>
              </a:ext>
            </a:extLst>
          </p:cNvPr>
          <p:cNvSpPr/>
          <p:nvPr/>
        </p:nvSpPr>
        <p:spPr>
          <a:xfrm>
            <a:off x="9893808" y="4041648"/>
            <a:ext cx="3675888" cy="1773936"/>
          </a:xfrm>
          <a:prstGeom prst="rect">
            <a:avLst/>
          </a:prstGeom>
          <a:noFill/>
          <a:ln/>
        </p:spPr>
        <p:txBody>
          <a:bodyPr wrap="square" lIns="0" tIns="0" rIns="0" bIns="0" rtlCol="0" anchor="ctr"/>
          <a:lstStyle/>
          <a:p>
            <a:pPr marL="0" indent="0" algn="ctr">
              <a:lnSpc>
                <a:spcPts val="2780"/>
              </a:lnSpc>
              <a:buNone/>
            </a:pPr>
            <a:endParaRPr lang="en-US" sz="1850" dirty="0">
              <a:latin typeface="Times New Roman" panose="02020603050405020304" pitchFamily="18" charset="0"/>
              <a:cs typeface="Times New Roman" panose="02020603050405020304" pitchFamily="18" charset="0"/>
            </a:endParaRPr>
          </a:p>
        </p:txBody>
      </p:sp>
      <p:sp>
        <p:nvSpPr>
          <p:cNvPr id="13" name="Text 6">
            <a:extLst>
              <a:ext uri="{FF2B5EF4-FFF2-40B4-BE49-F238E27FC236}">
                <a16:creationId xmlns:a16="http://schemas.microsoft.com/office/drawing/2014/main" id="{D7A3BE3C-A000-FACA-54E6-1FB65DA975E7}"/>
              </a:ext>
            </a:extLst>
          </p:cNvPr>
          <p:cNvSpPr/>
          <p:nvPr/>
        </p:nvSpPr>
        <p:spPr>
          <a:xfrm>
            <a:off x="9893808" y="3163824"/>
            <a:ext cx="3675888" cy="740664"/>
          </a:xfrm>
          <a:prstGeom prst="rect">
            <a:avLst/>
          </a:prstGeom>
          <a:noFill/>
          <a:ln/>
        </p:spPr>
        <p:txBody>
          <a:bodyPr wrap="square" lIns="0" tIns="0" rIns="0" bIns="0" rtlCol="0" anchor="ctr"/>
          <a:lstStyle/>
          <a:p>
            <a:pPr marL="0" indent="0" algn="ctr">
              <a:lnSpc>
                <a:spcPts val="2900"/>
              </a:lnSpc>
              <a:buNone/>
            </a:pPr>
            <a:endParaRPr lang="en-US" sz="232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CCAC3FD-06DD-FE4A-1844-5B90B6284C7A}"/>
              </a:ext>
            </a:extLst>
          </p:cNvPr>
          <p:cNvSpPr txBox="1"/>
          <p:nvPr/>
        </p:nvSpPr>
        <p:spPr>
          <a:xfrm>
            <a:off x="475488" y="1731264"/>
            <a:ext cx="13075920" cy="38779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 today’s fast-paced world, users seek convenient, quick, and reliable methods to book hotel rooms without the need to browse through multiple websites or make time-consuming phone calls.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Traditional hotel booking systems often lack real-time interaction and personalized assistance, leading to user dissatisfaction and booking drop-offs. </a:t>
            </a:r>
          </a:p>
          <a:p>
            <a:endParaRPr lang="en-US" sz="2000" dirty="0">
              <a:latin typeface="Times New Roman" panose="02020603050405020304" pitchFamily="18" charset="0"/>
              <a:cs typeface="Times New Roman" panose="02020603050405020304" pitchFamily="18" charset="0"/>
            </a:endParaRPr>
          </a:p>
          <a:p>
            <a:r>
              <a:rPr lang="en-US" sz="4600" dirty="0">
                <a:latin typeface="Times New Roman" panose="02020603050405020304" pitchFamily="18" charset="0"/>
                <a:cs typeface="Times New Roman" panose="02020603050405020304" pitchFamily="18" charset="0"/>
              </a:rPr>
              <a:t>Solution overview</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aims to address these challenges by developing an intelligent Hotel Booking Chatbot that enables users to interact and make hotel reservations through natural language conversations via Amazon Lex, process booking logic with AWS Lambda using Python, and communicate with users via Twilio SMS or WhatsApp services.</a:t>
            </a:r>
          </a:p>
        </p:txBody>
      </p:sp>
    </p:spTree>
    <p:extLst>
      <p:ext uri="{BB962C8B-B14F-4D97-AF65-F5344CB8AC3E}">
        <p14:creationId xmlns:p14="http://schemas.microsoft.com/office/powerpoint/2010/main" val="2270144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 y="24384"/>
            <a:ext cx="14630400" cy="8238744"/>
          </a:xfrm>
          <a:prstGeom prst="rect">
            <a:avLst/>
          </a:prstGeom>
        </p:spPr>
      </p:pic>
      <p:sp>
        <p:nvSpPr>
          <p:cNvPr id="7" name="Text 0"/>
          <p:cNvSpPr/>
          <p:nvPr/>
        </p:nvSpPr>
        <p:spPr>
          <a:xfrm>
            <a:off x="10082784" y="2706624"/>
            <a:ext cx="4047744" cy="902208"/>
          </a:xfrm>
          <a:prstGeom prst="rect">
            <a:avLst/>
          </a:prstGeom>
          <a:noFill/>
          <a:ln/>
        </p:spPr>
        <p:txBody>
          <a:bodyPr wrap="square" lIns="0" tIns="0" rIns="0" bIns="0" rtlCol="0" anchor="ctr"/>
          <a:lstStyle/>
          <a:p>
            <a:pPr marL="0" indent="0">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User Experience Enhancement:</a:t>
            </a:r>
            <a:endParaRPr lang="en-US" sz="2320" dirty="0">
              <a:latin typeface="Times New Roman" panose="02020603050405020304" pitchFamily="18" charset="0"/>
              <a:cs typeface="Times New Roman" panose="02020603050405020304" pitchFamily="18" charset="0"/>
            </a:endParaRPr>
          </a:p>
        </p:txBody>
      </p:sp>
      <p:sp>
        <p:nvSpPr>
          <p:cNvPr id="8" name="Text 1"/>
          <p:cNvSpPr/>
          <p:nvPr/>
        </p:nvSpPr>
        <p:spPr>
          <a:xfrm>
            <a:off x="4535424" y="2990088"/>
            <a:ext cx="4626864"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Growth In Hospitality:</a:t>
            </a:r>
            <a:endParaRPr lang="en-US" sz="2320" dirty="0">
              <a:latin typeface="Times New Roman" panose="02020603050405020304" pitchFamily="18" charset="0"/>
              <a:cs typeface="Times New Roman" panose="02020603050405020304" pitchFamily="18" charset="0"/>
            </a:endParaRPr>
          </a:p>
        </p:txBody>
      </p:sp>
      <p:sp>
        <p:nvSpPr>
          <p:cNvPr id="9" name="Text 2"/>
          <p:cNvSpPr/>
          <p:nvPr/>
        </p:nvSpPr>
        <p:spPr>
          <a:xfrm>
            <a:off x="329184" y="2990088"/>
            <a:ext cx="4425696"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Definition And Purpose:</a:t>
            </a:r>
            <a:endParaRPr lang="en-US" sz="2320" dirty="0">
              <a:latin typeface="Times New Roman" panose="02020603050405020304" pitchFamily="18" charset="0"/>
              <a:cs typeface="Times New Roman" panose="02020603050405020304" pitchFamily="18" charset="0"/>
            </a:endParaRPr>
          </a:p>
        </p:txBody>
      </p:sp>
      <p:sp>
        <p:nvSpPr>
          <p:cNvPr id="10" name="Text 3"/>
          <p:cNvSpPr/>
          <p:nvPr/>
        </p:nvSpPr>
        <p:spPr>
          <a:xfrm>
            <a:off x="5486400" y="4114800"/>
            <a:ext cx="3675888" cy="1161288"/>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hospitality industry increasingly adopts chatbots to improve customer interaction, streamline booking processes, and reduce operational costs.</a:t>
            </a:r>
            <a:endParaRPr lang="en-US" sz="2000" dirty="0">
              <a:latin typeface="Times New Roman" panose="02020603050405020304" pitchFamily="18" charset="0"/>
              <a:cs typeface="Times New Roman" panose="02020603050405020304" pitchFamily="18" charset="0"/>
            </a:endParaRPr>
          </a:p>
        </p:txBody>
      </p:sp>
      <p:sp>
        <p:nvSpPr>
          <p:cNvPr id="11" name="Text 4"/>
          <p:cNvSpPr/>
          <p:nvPr/>
        </p:nvSpPr>
        <p:spPr>
          <a:xfrm>
            <a:off x="832104" y="1856232"/>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Introduction To Chatbots</a:t>
            </a:r>
            <a:endParaRPr lang="en-US" sz="4640" dirty="0">
              <a:latin typeface="Times New Roman" panose="02020603050405020304" pitchFamily="18" charset="0"/>
              <a:cs typeface="Times New Roman" panose="02020603050405020304" pitchFamily="18" charset="0"/>
            </a:endParaRPr>
          </a:p>
        </p:txBody>
      </p:sp>
      <p:sp>
        <p:nvSpPr>
          <p:cNvPr id="12" name="Text 5"/>
          <p:cNvSpPr/>
          <p:nvPr/>
        </p:nvSpPr>
        <p:spPr>
          <a:xfrm>
            <a:off x="1078992" y="3502152"/>
            <a:ext cx="3675888" cy="2478024"/>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Chatbots are AI-driven applications designed to simulate conversation with users, providing instant responses and assistance, enhancing customer service efficiency.</a:t>
            </a:r>
            <a:endParaRPr lang="en-US" sz="2000" dirty="0">
              <a:latin typeface="Times New Roman" panose="02020603050405020304" pitchFamily="18" charset="0"/>
              <a:cs typeface="Times New Roman" panose="02020603050405020304" pitchFamily="18" charset="0"/>
            </a:endParaRPr>
          </a:p>
        </p:txBody>
      </p:sp>
      <p:sp>
        <p:nvSpPr>
          <p:cNvPr id="13" name="Text 6"/>
          <p:cNvSpPr/>
          <p:nvPr/>
        </p:nvSpPr>
        <p:spPr>
          <a:xfrm>
            <a:off x="10082784" y="3718560"/>
            <a:ext cx="3486912" cy="1962912"/>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Chatbots offer 24/7 availability, personalized recommendations, and quicker response times, significantly improving the overall user experience in hotel bookings.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897112"/>
          </a:xfrm>
          <a:prstGeom prst="rect">
            <a:avLst/>
          </a:prstGeom>
        </p:spPr>
      </p:pic>
      <p:pic>
        <p:nvPicPr>
          <p:cNvPr id="3" name="Image 1" descr="preencoded.png"/>
          <p:cNvPicPr>
            <a:picLocks noChangeAspect="1"/>
          </p:cNvPicPr>
          <p:nvPr/>
        </p:nvPicPr>
        <p:blipFill>
          <a:blip r:embed="rId4"/>
          <a:stretch>
            <a:fillRect/>
          </a:stretch>
        </p:blipFill>
        <p:spPr>
          <a:xfrm>
            <a:off x="5047488" y="2679192"/>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2679192"/>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2679192"/>
            <a:ext cx="4544568" cy="4544568"/>
          </a:xfrm>
          <a:prstGeom prst="rect">
            <a:avLst/>
          </a:prstGeom>
        </p:spPr>
      </p:pic>
      <p:sp>
        <p:nvSpPr>
          <p:cNvPr id="6" name="Text 0"/>
          <p:cNvSpPr/>
          <p:nvPr/>
        </p:nvSpPr>
        <p:spPr>
          <a:xfrm>
            <a:off x="9924288" y="5577840"/>
            <a:ext cx="3773424"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Multi-Platform Support</a:t>
            </a:r>
            <a:endParaRPr lang="en-US" sz="2320" dirty="0">
              <a:latin typeface="Times New Roman" panose="02020603050405020304" pitchFamily="18" charset="0"/>
              <a:cs typeface="Times New Roman" panose="02020603050405020304" pitchFamily="18" charset="0"/>
            </a:endParaRPr>
          </a:p>
        </p:txBody>
      </p:sp>
      <p:sp>
        <p:nvSpPr>
          <p:cNvPr id="7" name="Text 1"/>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Amazon Lex Overview</a:t>
            </a:r>
            <a:endParaRPr lang="en-US" sz="4640" dirty="0">
              <a:latin typeface="Times New Roman" panose="02020603050405020304" pitchFamily="18" charset="0"/>
              <a:cs typeface="Times New Roman" panose="02020603050405020304" pitchFamily="18" charset="0"/>
            </a:endParaRPr>
          </a:p>
        </p:txBody>
      </p:sp>
      <p:sp>
        <p:nvSpPr>
          <p:cNvPr id="8" name="Text 2"/>
          <p:cNvSpPr/>
          <p:nvPr/>
        </p:nvSpPr>
        <p:spPr>
          <a:xfrm>
            <a:off x="9924288" y="2926080"/>
            <a:ext cx="4331208" cy="1737360"/>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It seamlessly connects with other AWS services like Lambda for backend processing and DynamoDB for data storage, ensuring a robust solution.</a:t>
            </a:r>
            <a:endParaRPr lang="en-US" sz="2000" dirty="0">
              <a:latin typeface="Times New Roman" panose="02020603050405020304" pitchFamily="18" charset="0"/>
              <a:cs typeface="Times New Roman" panose="02020603050405020304" pitchFamily="18" charset="0"/>
            </a:endParaRPr>
          </a:p>
        </p:txBody>
      </p:sp>
      <p:sp>
        <p:nvSpPr>
          <p:cNvPr id="9" name="Text 3"/>
          <p:cNvSpPr/>
          <p:nvPr/>
        </p:nvSpPr>
        <p:spPr>
          <a:xfrm>
            <a:off x="950976" y="3566160"/>
            <a:ext cx="3511296" cy="740664"/>
          </a:xfrm>
          <a:prstGeom prst="rect">
            <a:avLst/>
          </a:prstGeom>
          <a:noFill/>
          <a:ln/>
        </p:spPr>
        <p:txBody>
          <a:bodyPr wrap="square" lIns="0" tIns="0" rIns="0" bIns="0" rtlCol="0" anchor="ctr"/>
          <a:lstStyle/>
          <a:p>
            <a:pPr marL="0" indent="0" algn="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Natural Language Processing</a:t>
            </a:r>
            <a:endParaRPr lang="en-US" sz="2320" dirty="0">
              <a:latin typeface="Times New Roman" panose="02020603050405020304" pitchFamily="18" charset="0"/>
              <a:cs typeface="Times New Roman" panose="02020603050405020304" pitchFamily="18" charset="0"/>
            </a:endParaRPr>
          </a:p>
        </p:txBody>
      </p:sp>
      <p:sp>
        <p:nvSpPr>
          <p:cNvPr id="10" name="Text 4"/>
          <p:cNvSpPr/>
          <p:nvPr/>
        </p:nvSpPr>
        <p:spPr>
          <a:xfrm>
            <a:off x="950976" y="4572000"/>
            <a:ext cx="3511296" cy="1773936"/>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Amazon Lex utilizes advanced NLP to understand user intent, enabling more natural interactions between guests and the booking bot.</a:t>
            </a:r>
            <a:endParaRPr lang="en-US" sz="2000" dirty="0">
              <a:latin typeface="Times New Roman" panose="02020603050405020304" pitchFamily="18" charset="0"/>
              <a:cs typeface="Times New Roman" panose="02020603050405020304" pitchFamily="18" charset="0"/>
            </a:endParaRPr>
          </a:p>
        </p:txBody>
      </p:sp>
      <p:sp>
        <p:nvSpPr>
          <p:cNvPr id="11" name="Text 5"/>
          <p:cNvSpPr/>
          <p:nvPr/>
        </p:nvSpPr>
        <p:spPr>
          <a:xfrm>
            <a:off x="9924288" y="1920240"/>
            <a:ext cx="3773424" cy="749808"/>
          </a:xfrm>
          <a:prstGeom prst="rect">
            <a:avLst/>
          </a:prstGeom>
          <a:noFill/>
          <a:ln/>
        </p:spPr>
        <p:txBody>
          <a:bodyPr wrap="squar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Integration with AWS Services</a:t>
            </a:r>
            <a:endParaRPr lang="en-US" sz="2320" dirty="0">
              <a:latin typeface="Times New Roman" panose="02020603050405020304" pitchFamily="18" charset="0"/>
              <a:cs typeface="Times New Roman" panose="02020603050405020304" pitchFamily="18" charset="0"/>
            </a:endParaRPr>
          </a:p>
        </p:txBody>
      </p:sp>
      <p:sp>
        <p:nvSpPr>
          <p:cNvPr id="12" name="Text 6"/>
          <p:cNvSpPr/>
          <p:nvPr/>
        </p:nvSpPr>
        <p:spPr>
          <a:xfrm>
            <a:off x="9924288" y="6208776"/>
            <a:ext cx="3773424" cy="1773936"/>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Lex supports integration across various platforms, including web applications and messaging services, facilitating widespread access for users.</a:t>
            </a:r>
            <a:endParaRPr lang="en-US" sz="2000" dirty="0">
              <a:latin typeface="Times New Roman" panose="02020603050405020304" pitchFamily="18" charset="0"/>
              <a:cs typeface="Times New Roman" panose="02020603050405020304" pitchFamily="18" charset="0"/>
            </a:endParaRPr>
          </a:p>
        </p:txBody>
      </p:sp>
      <p:sp>
        <p:nvSpPr>
          <p:cNvPr id="13" name="Text 7"/>
          <p:cNvSpPr/>
          <p:nvPr/>
        </p:nvSpPr>
        <p:spPr>
          <a:xfrm>
            <a:off x="8028432" y="335584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2</a:t>
            </a:r>
            <a:endParaRPr lang="en-US" sz="2320" dirty="0">
              <a:latin typeface="Times New Roman" panose="02020603050405020304" pitchFamily="18" charset="0"/>
              <a:cs typeface="Times New Roman" panose="02020603050405020304" pitchFamily="18" charset="0"/>
            </a:endParaRPr>
          </a:p>
        </p:txBody>
      </p:sp>
      <p:sp>
        <p:nvSpPr>
          <p:cNvPr id="14" name="Text 8"/>
          <p:cNvSpPr/>
          <p:nvPr/>
        </p:nvSpPr>
        <p:spPr>
          <a:xfrm>
            <a:off x="8028432" y="6108192"/>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3</a:t>
            </a:r>
            <a:endParaRPr lang="en-US" sz="2320" dirty="0">
              <a:latin typeface="Times New Roman" panose="02020603050405020304" pitchFamily="18" charset="0"/>
              <a:cs typeface="Times New Roman" panose="02020603050405020304" pitchFamily="18" charset="0"/>
            </a:endParaRPr>
          </a:p>
        </p:txBody>
      </p:sp>
      <p:sp>
        <p:nvSpPr>
          <p:cNvPr id="15" name="Text 9"/>
          <p:cNvSpPr/>
          <p:nvPr/>
        </p:nvSpPr>
        <p:spPr>
          <a:xfrm>
            <a:off x="5641848" y="4736592"/>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1</a:t>
            </a:r>
            <a:endParaRPr lang="en-US" sz="23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7" name="Text 0"/>
          <p:cNvSpPr/>
          <p:nvPr/>
        </p:nvSpPr>
        <p:spPr>
          <a:xfrm>
            <a:off x="365760" y="3163824"/>
            <a:ext cx="4389120"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Serverless Architecture:</a:t>
            </a:r>
            <a:endParaRPr lang="en-US" sz="2320" dirty="0">
              <a:latin typeface="Times New Roman" panose="02020603050405020304" pitchFamily="18" charset="0"/>
              <a:cs typeface="Times New Roman" panose="02020603050405020304" pitchFamily="18" charset="0"/>
            </a:endParaRPr>
          </a:p>
        </p:txBody>
      </p:sp>
      <p:sp>
        <p:nvSpPr>
          <p:cNvPr id="8" name="Text 1"/>
          <p:cNvSpPr/>
          <p:nvPr/>
        </p:nvSpPr>
        <p:spPr>
          <a:xfrm>
            <a:off x="4773168" y="3163824"/>
            <a:ext cx="4389120"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Event-Driven Execution:</a:t>
            </a:r>
            <a:endParaRPr lang="en-US" sz="2320" dirty="0">
              <a:latin typeface="Times New Roman" panose="02020603050405020304" pitchFamily="18" charset="0"/>
              <a:cs typeface="Times New Roman" panose="02020603050405020304" pitchFamily="18" charset="0"/>
            </a:endParaRPr>
          </a:p>
        </p:txBody>
      </p:sp>
      <p:sp>
        <p:nvSpPr>
          <p:cNvPr id="9" name="Text 2"/>
          <p:cNvSpPr/>
          <p:nvPr/>
        </p:nvSpPr>
        <p:spPr>
          <a:xfrm>
            <a:off x="832104" y="640080"/>
            <a:ext cx="12984480" cy="1664208"/>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AWS Lambda Functions And key Features</a:t>
            </a:r>
            <a:endParaRPr lang="en-US" sz="4640" dirty="0">
              <a:latin typeface="Times New Roman" panose="02020603050405020304" pitchFamily="18" charset="0"/>
              <a:cs typeface="Times New Roman" panose="02020603050405020304" pitchFamily="18" charset="0"/>
            </a:endParaRPr>
          </a:p>
        </p:txBody>
      </p:sp>
      <p:sp>
        <p:nvSpPr>
          <p:cNvPr id="10" name="Text 3"/>
          <p:cNvSpPr/>
          <p:nvPr/>
        </p:nvSpPr>
        <p:spPr>
          <a:xfrm>
            <a:off x="1078992" y="3675888"/>
            <a:ext cx="3675888" cy="2130552"/>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AWS Lambda allows the execution of code without provisioning servers, making it cost-effective and easier to manage for handling booking requests.</a:t>
            </a:r>
            <a:endParaRPr lang="en-US" sz="2000" dirty="0">
              <a:latin typeface="Times New Roman" panose="02020603050405020304" pitchFamily="18" charset="0"/>
              <a:cs typeface="Times New Roman" panose="02020603050405020304" pitchFamily="18" charset="0"/>
            </a:endParaRPr>
          </a:p>
        </p:txBody>
      </p:sp>
      <p:sp>
        <p:nvSpPr>
          <p:cNvPr id="11" name="Text 4"/>
          <p:cNvSpPr/>
          <p:nvPr/>
        </p:nvSpPr>
        <p:spPr>
          <a:xfrm>
            <a:off x="5486400" y="3675888"/>
            <a:ext cx="3675888" cy="1773936"/>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Lambda functions can be triggered by various events from Lex, processing user input and managing booking logic in real time.</a:t>
            </a:r>
            <a:endParaRPr lang="en-US" sz="2000" dirty="0">
              <a:latin typeface="Times New Roman" panose="02020603050405020304" pitchFamily="18" charset="0"/>
              <a:cs typeface="Times New Roman" panose="02020603050405020304" pitchFamily="18" charset="0"/>
            </a:endParaRPr>
          </a:p>
        </p:txBody>
      </p:sp>
      <p:sp>
        <p:nvSpPr>
          <p:cNvPr id="12" name="Text 5"/>
          <p:cNvSpPr/>
          <p:nvPr/>
        </p:nvSpPr>
        <p:spPr>
          <a:xfrm>
            <a:off x="9893808" y="3675888"/>
            <a:ext cx="4248912" cy="1664208"/>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architecture automatically scales according to demand, ensuring reliable performance even during peak booking times.</a:t>
            </a:r>
            <a:endParaRPr lang="en-US" sz="2000" dirty="0">
              <a:latin typeface="Times New Roman" panose="02020603050405020304" pitchFamily="18" charset="0"/>
              <a:cs typeface="Times New Roman" panose="02020603050405020304" pitchFamily="18" charset="0"/>
            </a:endParaRPr>
          </a:p>
        </p:txBody>
      </p:sp>
      <p:sp>
        <p:nvSpPr>
          <p:cNvPr id="13" name="Text 6"/>
          <p:cNvSpPr/>
          <p:nvPr/>
        </p:nvSpPr>
        <p:spPr>
          <a:xfrm>
            <a:off x="9406128" y="2791968"/>
            <a:ext cx="4145280" cy="999744"/>
          </a:xfrm>
          <a:prstGeom prst="rect">
            <a:avLst/>
          </a:prstGeom>
          <a:noFill/>
          <a:ln/>
        </p:spPr>
        <p:txBody>
          <a:bodyPr wrap="squar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Scalability And Reliability:</a:t>
            </a:r>
            <a:endParaRPr lang="en-US" sz="23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DC377-30D8-C780-74F6-13D64AB627A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6489C24-E2CA-832E-4B92-A98237B33E7D}"/>
              </a:ext>
            </a:extLst>
          </p:cNvPr>
          <p:cNvPicPr>
            <a:picLocks noChangeAspect="1"/>
          </p:cNvPicPr>
          <p:nvPr/>
        </p:nvPicPr>
        <p:blipFill>
          <a:blip r:embed="rId3"/>
          <a:stretch>
            <a:fillRect/>
          </a:stretch>
        </p:blipFill>
        <p:spPr>
          <a:xfrm>
            <a:off x="0" y="0"/>
            <a:ext cx="14630400" cy="8238744"/>
          </a:xfrm>
          <a:prstGeom prst="rect">
            <a:avLst/>
          </a:prstGeom>
        </p:spPr>
      </p:pic>
      <p:sp>
        <p:nvSpPr>
          <p:cNvPr id="7" name="Text 0">
            <a:extLst>
              <a:ext uri="{FF2B5EF4-FFF2-40B4-BE49-F238E27FC236}">
                <a16:creationId xmlns:a16="http://schemas.microsoft.com/office/drawing/2014/main" id="{D92879FE-7728-458A-68A0-1EE670A60025}"/>
              </a:ext>
            </a:extLst>
          </p:cNvPr>
          <p:cNvSpPr/>
          <p:nvPr/>
        </p:nvSpPr>
        <p:spPr>
          <a:xfrm>
            <a:off x="365760" y="3163824"/>
            <a:ext cx="4389120" cy="374904"/>
          </a:xfrm>
          <a:prstGeom prst="rect">
            <a:avLst/>
          </a:prstGeom>
          <a:noFill/>
          <a:ln/>
        </p:spPr>
        <p:txBody>
          <a:bodyPr wrap="none" lIns="0" tIns="0" rIns="0" bIns="0" rtlCol="0" anchor="ctr"/>
          <a:lstStyle/>
          <a:p>
            <a:pPr marL="0" indent="0" algn="ctr">
              <a:lnSpc>
                <a:spcPts val="2900"/>
              </a:lnSpc>
              <a:buNone/>
            </a:pPr>
            <a:endParaRPr lang="en-US" sz="2320" dirty="0">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BE236CA1-D341-D346-1ECA-4707B89619F6}"/>
              </a:ext>
            </a:extLst>
          </p:cNvPr>
          <p:cNvSpPr/>
          <p:nvPr/>
        </p:nvSpPr>
        <p:spPr>
          <a:xfrm>
            <a:off x="4773168" y="3163824"/>
            <a:ext cx="4389120" cy="374904"/>
          </a:xfrm>
          <a:prstGeom prst="rect">
            <a:avLst/>
          </a:prstGeom>
          <a:noFill/>
          <a:ln/>
        </p:spPr>
        <p:txBody>
          <a:bodyPr wrap="none" lIns="0" tIns="0" rIns="0" bIns="0" rtlCol="0" anchor="ctr"/>
          <a:lstStyle/>
          <a:p>
            <a:pPr marL="0" indent="0" algn="ctr">
              <a:lnSpc>
                <a:spcPts val="2900"/>
              </a:lnSpc>
              <a:buNone/>
            </a:pPr>
            <a:endParaRPr lang="en-US" sz="2320" dirty="0">
              <a:latin typeface="Times New Roman" panose="02020603050405020304" pitchFamily="18" charset="0"/>
              <a:cs typeface="Times New Roman" panose="02020603050405020304" pitchFamily="18" charset="0"/>
            </a:endParaRPr>
          </a:p>
        </p:txBody>
      </p:sp>
      <p:sp>
        <p:nvSpPr>
          <p:cNvPr id="9" name="Text 2">
            <a:extLst>
              <a:ext uri="{FF2B5EF4-FFF2-40B4-BE49-F238E27FC236}">
                <a16:creationId xmlns:a16="http://schemas.microsoft.com/office/drawing/2014/main" id="{002B044C-FF12-F248-6B89-4D8942A3C858}"/>
              </a:ext>
            </a:extLst>
          </p:cNvPr>
          <p:cNvSpPr/>
          <p:nvPr/>
        </p:nvSpPr>
        <p:spPr>
          <a:xfrm>
            <a:off x="832104" y="640080"/>
            <a:ext cx="12984480" cy="1664208"/>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Architecture </a:t>
            </a:r>
            <a:endParaRPr lang="en-US" sz="4640" dirty="0">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AD64AA59-82B3-C089-B963-A2B94ABE2DBE}"/>
              </a:ext>
            </a:extLst>
          </p:cNvPr>
          <p:cNvSpPr/>
          <p:nvPr/>
        </p:nvSpPr>
        <p:spPr>
          <a:xfrm>
            <a:off x="1078992" y="3675888"/>
            <a:ext cx="3675888" cy="2130552"/>
          </a:xfrm>
          <a:prstGeom prst="rect">
            <a:avLst/>
          </a:prstGeom>
          <a:noFill/>
          <a:ln/>
        </p:spPr>
        <p:txBody>
          <a:bodyPr wrap="square" lIns="0" tIns="0" rIns="0" bIns="0" rtlCol="0" anchor="ctr"/>
          <a:lstStyle/>
          <a:p>
            <a:pPr marL="0" indent="0">
              <a:lnSpc>
                <a:spcPts val="2780"/>
              </a:lnSpc>
              <a:buNone/>
            </a:pPr>
            <a:endParaRPr lang="en-US" sz="2000" dirty="0">
              <a:latin typeface="Times New Roman" panose="02020603050405020304" pitchFamily="18" charset="0"/>
              <a:cs typeface="Times New Roman" panose="02020603050405020304" pitchFamily="18" charset="0"/>
            </a:endParaRPr>
          </a:p>
        </p:txBody>
      </p:sp>
      <p:sp>
        <p:nvSpPr>
          <p:cNvPr id="11" name="Text 4">
            <a:extLst>
              <a:ext uri="{FF2B5EF4-FFF2-40B4-BE49-F238E27FC236}">
                <a16:creationId xmlns:a16="http://schemas.microsoft.com/office/drawing/2014/main" id="{66558DE3-CCE3-3447-E3A7-89D774CDE71B}"/>
              </a:ext>
            </a:extLst>
          </p:cNvPr>
          <p:cNvSpPr/>
          <p:nvPr/>
        </p:nvSpPr>
        <p:spPr>
          <a:xfrm>
            <a:off x="5486400" y="3675888"/>
            <a:ext cx="3675888" cy="1773936"/>
          </a:xfrm>
          <a:prstGeom prst="rect">
            <a:avLst/>
          </a:prstGeom>
          <a:noFill/>
          <a:ln/>
        </p:spPr>
        <p:txBody>
          <a:bodyPr wrap="square" lIns="0" tIns="0" rIns="0" bIns="0" rtlCol="0" anchor="ctr"/>
          <a:lstStyle/>
          <a:p>
            <a:pPr marL="0" indent="0">
              <a:lnSpc>
                <a:spcPts val="2780"/>
              </a:lnSpc>
              <a:buNone/>
            </a:pPr>
            <a:endParaRPr lang="en-US" sz="2000" dirty="0">
              <a:latin typeface="Times New Roman" panose="02020603050405020304" pitchFamily="18" charset="0"/>
              <a:cs typeface="Times New Roman" panose="02020603050405020304" pitchFamily="18" charset="0"/>
            </a:endParaRPr>
          </a:p>
        </p:txBody>
      </p:sp>
      <p:sp>
        <p:nvSpPr>
          <p:cNvPr id="12" name="Text 5">
            <a:extLst>
              <a:ext uri="{FF2B5EF4-FFF2-40B4-BE49-F238E27FC236}">
                <a16:creationId xmlns:a16="http://schemas.microsoft.com/office/drawing/2014/main" id="{77BFF69F-73FA-2E3F-3F10-1F857DB9F736}"/>
              </a:ext>
            </a:extLst>
          </p:cNvPr>
          <p:cNvSpPr/>
          <p:nvPr/>
        </p:nvSpPr>
        <p:spPr>
          <a:xfrm>
            <a:off x="9893808" y="3675888"/>
            <a:ext cx="4248912" cy="1664208"/>
          </a:xfrm>
          <a:prstGeom prst="rect">
            <a:avLst/>
          </a:prstGeom>
          <a:noFill/>
          <a:ln/>
        </p:spPr>
        <p:txBody>
          <a:bodyPr wrap="square" lIns="0" tIns="0" rIns="0" bIns="0" rtlCol="0" anchor="ctr"/>
          <a:lstStyle/>
          <a:p>
            <a:pPr marL="0" indent="0">
              <a:lnSpc>
                <a:spcPts val="2780"/>
              </a:lnSpc>
              <a:buNone/>
            </a:pPr>
            <a:endParaRPr lang="en-US" sz="2000" dirty="0">
              <a:latin typeface="Times New Roman" panose="02020603050405020304" pitchFamily="18" charset="0"/>
              <a:cs typeface="Times New Roman" panose="02020603050405020304" pitchFamily="18" charset="0"/>
            </a:endParaRPr>
          </a:p>
        </p:txBody>
      </p:sp>
      <p:sp>
        <p:nvSpPr>
          <p:cNvPr id="13" name="Text 6">
            <a:extLst>
              <a:ext uri="{FF2B5EF4-FFF2-40B4-BE49-F238E27FC236}">
                <a16:creationId xmlns:a16="http://schemas.microsoft.com/office/drawing/2014/main" id="{93962DBB-5637-D34F-9CA7-1E2D38837458}"/>
              </a:ext>
            </a:extLst>
          </p:cNvPr>
          <p:cNvSpPr/>
          <p:nvPr/>
        </p:nvSpPr>
        <p:spPr>
          <a:xfrm>
            <a:off x="9406128" y="2791968"/>
            <a:ext cx="4145280" cy="999744"/>
          </a:xfrm>
          <a:prstGeom prst="rect">
            <a:avLst/>
          </a:prstGeom>
          <a:noFill/>
          <a:ln/>
        </p:spPr>
        <p:txBody>
          <a:bodyPr wrap="square" lIns="0" tIns="0" rIns="0" bIns="0" rtlCol="0" anchor="ctr"/>
          <a:lstStyle/>
          <a:p>
            <a:pPr marL="0" indent="0" algn="ctr">
              <a:lnSpc>
                <a:spcPts val="2900"/>
              </a:lnSpc>
              <a:buNone/>
            </a:pPr>
            <a:endParaRPr lang="en-US" sz="232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8F77F66-EF60-712E-3291-8E8F2D6BFEC5}"/>
              </a:ext>
            </a:extLst>
          </p:cNvPr>
          <p:cNvPicPr>
            <a:picLocks noChangeAspect="1"/>
          </p:cNvPicPr>
          <p:nvPr/>
        </p:nvPicPr>
        <p:blipFill>
          <a:blip r:embed="rId4"/>
          <a:stretch>
            <a:fillRect/>
          </a:stretch>
        </p:blipFill>
        <p:spPr>
          <a:xfrm>
            <a:off x="1514475" y="2009775"/>
            <a:ext cx="11601450" cy="4210050"/>
          </a:xfrm>
          <a:prstGeom prst="rect">
            <a:avLst/>
          </a:prstGeom>
        </p:spPr>
      </p:pic>
    </p:spTree>
    <p:extLst>
      <p:ext uri="{BB962C8B-B14F-4D97-AF65-F5344CB8AC3E}">
        <p14:creationId xmlns:p14="http://schemas.microsoft.com/office/powerpoint/2010/main" val="91610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832104" y="612648"/>
            <a:ext cx="12984480" cy="1472184"/>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Twilio Integration</a:t>
            </a:r>
            <a:endParaRPr lang="en-US" sz="4640" dirty="0">
              <a:latin typeface="Times New Roman" panose="02020603050405020304" pitchFamily="18" charset="0"/>
              <a:cs typeface="Times New Roman" panose="02020603050405020304" pitchFamily="18" charset="0"/>
            </a:endParaRPr>
          </a:p>
        </p:txBody>
      </p:sp>
      <p:sp>
        <p:nvSpPr>
          <p:cNvPr id="5" name="Text 1"/>
          <p:cNvSpPr/>
          <p:nvPr/>
        </p:nvSpPr>
        <p:spPr>
          <a:xfrm>
            <a:off x="9729216" y="3840480"/>
            <a:ext cx="3831336"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Voice Interaction:</a:t>
            </a:r>
            <a:endParaRPr lang="en-US" sz="2320" dirty="0">
              <a:latin typeface="Times New Roman" panose="02020603050405020304" pitchFamily="18" charset="0"/>
              <a:cs typeface="Times New Roman" panose="02020603050405020304" pitchFamily="18" charset="0"/>
            </a:endParaRPr>
          </a:p>
        </p:txBody>
      </p:sp>
      <p:sp>
        <p:nvSpPr>
          <p:cNvPr id="6" name="Text 2"/>
          <p:cNvSpPr/>
          <p:nvPr/>
        </p:nvSpPr>
        <p:spPr>
          <a:xfrm>
            <a:off x="9729216" y="4343400"/>
            <a:ext cx="3831336" cy="1773936"/>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Twilio's voice capabilities allow users to interact with the bot via voice commands, making the booking process more accessible.</a:t>
            </a:r>
            <a:endParaRPr lang="en-US" sz="2000" dirty="0">
              <a:latin typeface="Times New Roman" panose="02020603050405020304" pitchFamily="18" charset="0"/>
              <a:cs typeface="Times New Roman" panose="02020603050405020304" pitchFamily="18" charset="0"/>
            </a:endParaRPr>
          </a:p>
        </p:txBody>
      </p:sp>
      <p:sp>
        <p:nvSpPr>
          <p:cNvPr id="7" name="Text 3"/>
          <p:cNvSpPr/>
          <p:nvPr/>
        </p:nvSpPr>
        <p:spPr>
          <a:xfrm>
            <a:off x="832104" y="1975104"/>
            <a:ext cx="12984480" cy="1304544"/>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Twilio enhances user interaction with SMS and voice capabilities, offering seamless communication, notifications, and voice commands for a more accessible booking process.</a:t>
            </a:r>
            <a:endParaRPr lang="en-US" sz="2000" dirty="0">
              <a:latin typeface="Times New Roman" panose="02020603050405020304" pitchFamily="18" charset="0"/>
              <a:cs typeface="Times New Roman" panose="02020603050405020304" pitchFamily="18" charset="0"/>
            </a:endParaRPr>
          </a:p>
        </p:txBody>
      </p:sp>
      <p:sp>
        <p:nvSpPr>
          <p:cNvPr id="8" name="Text 4"/>
          <p:cNvSpPr/>
          <p:nvPr/>
        </p:nvSpPr>
        <p:spPr>
          <a:xfrm>
            <a:off x="5404104" y="4343400"/>
            <a:ext cx="3831336" cy="1773936"/>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bot can send booking confirmations, reminders, and updates through SMS, improving customer engagement and satisfaction.</a:t>
            </a:r>
            <a:endParaRPr lang="en-US" sz="2000" dirty="0">
              <a:latin typeface="Times New Roman" panose="02020603050405020304" pitchFamily="18" charset="0"/>
              <a:cs typeface="Times New Roman" panose="02020603050405020304" pitchFamily="18" charset="0"/>
            </a:endParaRPr>
          </a:p>
        </p:txBody>
      </p:sp>
      <p:sp>
        <p:nvSpPr>
          <p:cNvPr id="9" name="Text 5"/>
          <p:cNvSpPr/>
          <p:nvPr/>
        </p:nvSpPr>
        <p:spPr>
          <a:xfrm>
            <a:off x="1078992" y="3840480"/>
            <a:ext cx="3831336"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Communication Channel:</a:t>
            </a:r>
            <a:endParaRPr lang="en-US" sz="2320" dirty="0">
              <a:latin typeface="Times New Roman" panose="02020603050405020304" pitchFamily="18" charset="0"/>
              <a:cs typeface="Times New Roman" panose="02020603050405020304" pitchFamily="18" charset="0"/>
            </a:endParaRPr>
          </a:p>
        </p:txBody>
      </p:sp>
      <p:sp>
        <p:nvSpPr>
          <p:cNvPr id="10" name="Text 6"/>
          <p:cNvSpPr/>
          <p:nvPr/>
        </p:nvSpPr>
        <p:spPr>
          <a:xfrm>
            <a:off x="5404104" y="3840480"/>
            <a:ext cx="3831336"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User Notifications:</a:t>
            </a:r>
            <a:endParaRPr lang="en-US" sz="2320" dirty="0">
              <a:latin typeface="Times New Roman" panose="02020603050405020304" pitchFamily="18" charset="0"/>
              <a:cs typeface="Times New Roman" panose="02020603050405020304" pitchFamily="18" charset="0"/>
            </a:endParaRPr>
          </a:p>
        </p:txBody>
      </p:sp>
      <p:sp>
        <p:nvSpPr>
          <p:cNvPr id="11" name="Text 7"/>
          <p:cNvSpPr/>
          <p:nvPr/>
        </p:nvSpPr>
        <p:spPr>
          <a:xfrm>
            <a:off x="1078992" y="4343400"/>
            <a:ext cx="3831336" cy="1773936"/>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Twilio provides the infrastructure for sending and receiving SMS and voice calls, enhancing user interaction with the booking bot.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832104" y="2578608"/>
            <a:ext cx="3218688" cy="950976"/>
          </a:xfrm>
          <a:prstGeom prst="rect">
            <a:avLst/>
          </a:prstGeom>
        </p:spPr>
      </p:pic>
      <p:pic>
        <p:nvPicPr>
          <p:cNvPr id="5" name="Image 3" descr="preencoded.png"/>
          <p:cNvPicPr>
            <a:picLocks noChangeAspect="1"/>
          </p:cNvPicPr>
          <p:nvPr/>
        </p:nvPicPr>
        <p:blipFill>
          <a:blip r:embed="rId4"/>
          <a:stretch>
            <a:fillRect/>
          </a:stretch>
        </p:blipFill>
        <p:spPr>
          <a:xfrm>
            <a:off x="4087368" y="2578608"/>
            <a:ext cx="3218688" cy="950976"/>
          </a:xfrm>
          <a:prstGeom prst="rect">
            <a:avLst/>
          </a:prstGeom>
        </p:spPr>
      </p:pic>
      <p:pic>
        <p:nvPicPr>
          <p:cNvPr id="6" name="Image 4" descr="preencoded.png"/>
          <p:cNvPicPr>
            <a:picLocks noChangeAspect="1"/>
          </p:cNvPicPr>
          <p:nvPr/>
        </p:nvPicPr>
        <p:blipFill>
          <a:blip r:embed="rId4"/>
          <a:stretch>
            <a:fillRect/>
          </a:stretch>
        </p:blipFill>
        <p:spPr>
          <a:xfrm>
            <a:off x="7333488" y="2578608"/>
            <a:ext cx="3218688" cy="950976"/>
          </a:xfrm>
          <a:prstGeom prst="rect">
            <a:avLst/>
          </a:prstGeom>
        </p:spPr>
      </p:pic>
      <p:pic>
        <p:nvPicPr>
          <p:cNvPr id="7" name="Image 5" descr="preencoded.png"/>
          <p:cNvPicPr>
            <a:picLocks noChangeAspect="1"/>
          </p:cNvPicPr>
          <p:nvPr/>
        </p:nvPicPr>
        <p:blipFill>
          <a:blip r:embed="rId4"/>
          <a:stretch>
            <a:fillRect/>
          </a:stretch>
        </p:blipFill>
        <p:spPr>
          <a:xfrm>
            <a:off x="10579608" y="2578608"/>
            <a:ext cx="3218688" cy="950976"/>
          </a:xfrm>
          <a:prstGeom prst="rect">
            <a:avLst/>
          </a:prstGeom>
        </p:spPr>
      </p:pic>
      <p:sp>
        <p:nvSpPr>
          <p:cNvPr id="8" name="Text 0"/>
          <p:cNvSpPr/>
          <p:nvPr/>
        </p:nvSpPr>
        <p:spPr>
          <a:xfrm>
            <a:off x="10817352" y="3877056"/>
            <a:ext cx="2743200"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Response Delivery:</a:t>
            </a:r>
            <a:endParaRPr lang="en-US" sz="2320" dirty="0">
              <a:latin typeface="Times New Roman" panose="02020603050405020304" pitchFamily="18" charset="0"/>
              <a:cs typeface="Times New Roman" panose="02020603050405020304" pitchFamily="18" charset="0"/>
            </a:endParaRPr>
          </a:p>
        </p:txBody>
      </p:sp>
      <p:sp>
        <p:nvSpPr>
          <p:cNvPr id="9" name="Text 1"/>
          <p:cNvSpPr/>
          <p:nvPr/>
        </p:nvSpPr>
        <p:spPr>
          <a:xfrm>
            <a:off x="4325112" y="4379976"/>
            <a:ext cx="2743200" cy="1679448"/>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Amazon Lex processes the input to identify user intents and entities.</a:t>
            </a:r>
            <a:endParaRPr lang="en-US" sz="2000" dirty="0">
              <a:latin typeface="Times New Roman" panose="02020603050405020304" pitchFamily="18" charset="0"/>
              <a:cs typeface="Times New Roman" panose="02020603050405020304" pitchFamily="18" charset="0"/>
            </a:endParaRPr>
          </a:p>
        </p:txBody>
      </p:sp>
      <p:sp>
        <p:nvSpPr>
          <p:cNvPr id="10" name="Text 2"/>
          <p:cNvSpPr/>
          <p:nvPr/>
        </p:nvSpPr>
        <p:spPr>
          <a:xfrm>
            <a:off x="1078992" y="4379976"/>
            <a:ext cx="2743200" cy="1417320"/>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user initiates a conversation with the bot via a chosen platform.</a:t>
            </a:r>
            <a:endParaRPr lang="en-US" sz="2000" dirty="0">
              <a:latin typeface="Times New Roman" panose="02020603050405020304" pitchFamily="18" charset="0"/>
              <a:cs typeface="Times New Roman" panose="02020603050405020304" pitchFamily="18" charset="0"/>
            </a:endParaRPr>
          </a:p>
        </p:txBody>
      </p:sp>
      <p:sp>
        <p:nvSpPr>
          <p:cNvPr id="11" name="Text 3"/>
          <p:cNvSpPr/>
          <p:nvPr/>
        </p:nvSpPr>
        <p:spPr>
          <a:xfrm>
            <a:off x="10960608" y="4379976"/>
            <a:ext cx="3218688" cy="1301496"/>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bot delivers confirmation or information back to the user.</a:t>
            </a:r>
            <a:endParaRPr lang="en-US" sz="2000" dirty="0">
              <a:latin typeface="Times New Roman" panose="02020603050405020304" pitchFamily="18" charset="0"/>
              <a:cs typeface="Times New Roman" panose="02020603050405020304" pitchFamily="18" charset="0"/>
            </a:endParaRPr>
          </a:p>
        </p:txBody>
      </p:sp>
      <p:sp>
        <p:nvSpPr>
          <p:cNvPr id="12" name="Text 4"/>
          <p:cNvSpPr/>
          <p:nvPr/>
        </p:nvSpPr>
        <p:spPr>
          <a:xfrm>
            <a:off x="7571232" y="3666744"/>
            <a:ext cx="2743200" cy="832104"/>
          </a:xfrm>
          <a:prstGeom prst="rect">
            <a:avLst/>
          </a:prstGeom>
          <a:noFill/>
          <a:ln/>
        </p:spPr>
        <p:txBody>
          <a:bodyPr wrap="squar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Backend Processing:</a:t>
            </a:r>
            <a:endParaRPr lang="en-US" sz="2320" dirty="0">
              <a:latin typeface="Times New Roman" panose="02020603050405020304" pitchFamily="18" charset="0"/>
              <a:cs typeface="Times New Roman" panose="02020603050405020304" pitchFamily="18" charset="0"/>
            </a:endParaRPr>
          </a:p>
        </p:txBody>
      </p:sp>
      <p:sp>
        <p:nvSpPr>
          <p:cNvPr id="13" name="Text 5"/>
          <p:cNvSpPr/>
          <p:nvPr/>
        </p:nvSpPr>
        <p:spPr>
          <a:xfrm>
            <a:off x="341376" y="3877056"/>
            <a:ext cx="3480816"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User Interaction:</a:t>
            </a:r>
            <a:endParaRPr lang="en-US" sz="2320" dirty="0">
              <a:latin typeface="Times New Roman" panose="02020603050405020304" pitchFamily="18" charset="0"/>
              <a:cs typeface="Times New Roman" panose="02020603050405020304" pitchFamily="18" charset="0"/>
            </a:endParaRPr>
          </a:p>
        </p:txBody>
      </p:sp>
      <p:sp>
        <p:nvSpPr>
          <p:cNvPr id="14" name="Text 6"/>
          <p:cNvSpPr/>
          <p:nvPr/>
        </p:nvSpPr>
        <p:spPr>
          <a:xfrm>
            <a:off x="832104" y="768096"/>
            <a:ext cx="12984480" cy="1042416"/>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Implementation Workflow</a:t>
            </a:r>
            <a:endParaRPr lang="en-US" sz="4640" dirty="0">
              <a:latin typeface="Times New Roman" panose="02020603050405020304" pitchFamily="18" charset="0"/>
              <a:cs typeface="Times New Roman" panose="02020603050405020304" pitchFamily="18" charset="0"/>
            </a:endParaRPr>
          </a:p>
        </p:txBody>
      </p:sp>
      <p:sp>
        <p:nvSpPr>
          <p:cNvPr id="15" name="Text 7"/>
          <p:cNvSpPr/>
          <p:nvPr/>
        </p:nvSpPr>
        <p:spPr>
          <a:xfrm>
            <a:off x="2368296" y="283464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1</a:t>
            </a:r>
            <a:endParaRPr lang="en-US" sz="2320" dirty="0">
              <a:latin typeface="Times New Roman" panose="02020603050405020304" pitchFamily="18" charset="0"/>
              <a:cs typeface="Times New Roman" panose="02020603050405020304" pitchFamily="18" charset="0"/>
            </a:endParaRPr>
          </a:p>
        </p:txBody>
      </p:sp>
      <p:sp>
        <p:nvSpPr>
          <p:cNvPr id="16" name="Text 8"/>
          <p:cNvSpPr/>
          <p:nvPr/>
        </p:nvSpPr>
        <p:spPr>
          <a:xfrm>
            <a:off x="5614416" y="283464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2</a:t>
            </a:r>
            <a:endParaRPr lang="en-US" sz="2320" dirty="0">
              <a:latin typeface="Times New Roman" panose="02020603050405020304" pitchFamily="18" charset="0"/>
              <a:cs typeface="Times New Roman" panose="02020603050405020304" pitchFamily="18" charset="0"/>
            </a:endParaRPr>
          </a:p>
        </p:txBody>
      </p:sp>
      <p:sp>
        <p:nvSpPr>
          <p:cNvPr id="17" name="Text 9"/>
          <p:cNvSpPr/>
          <p:nvPr/>
        </p:nvSpPr>
        <p:spPr>
          <a:xfrm>
            <a:off x="8860536" y="283464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3</a:t>
            </a:r>
            <a:endParaRPr lang="en-US" sz="2320" dirty="0">
              <a:latin typeface="Times New Roman" panose="02020603050405020304" pitchFamily="18" charset="0"/>
              <a:cs typeface="Times New Roman" panose="02020603050405020304" pitchFamily="18" charset="0"/>
            </a:endParaRPr>
          </a:p>
        </p:txBody>
      </p:sp>
      <p:sp>
        <p:nvSpPr>
          <p:cNvPr id="18" name="Text 10"/>
          <p:cNvSpPr/>
          <p:nvPr/>
        </p:nvSpPr>
        <p:spPr>
          <a:xfrm>
            <a:off x="7714488" y="4767072"/>
            <a:ext cx="2599944" cy="1149096"/>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AWS Lambda handles the logic, queries databases, and processes requests.</a:t>
            </a:r>
            <a:endParaRPr lang="en-US" sz="2000" dirty="0">
              <a:latin typeface="Times New Roman" panose="02020603050405020304" pitchFamily="18" charset="0"/>
              <a:cs typeface="Times New Roman" panose="02020603050405020304" pitchFamily="18" charset="0"/>
            </a:endParaRPr>
          </a:p>
        </p:txBody>
      </p:sp>
      <p:sp>
        <p:nvSpPr>
          <p:cNvPr id="19" name="Text 11"/>
          <p:cNvSpPr/>
          <p:nvPr/>
        </p:nvSpPr>
        <p:spPr>
          <a:xfrm>
            <a:off x="3822192" y="3877056"/>
            <a:ext cx="3246120"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Intent Recognition:</a:t>
            </a:r>
            <a:endParaRPr lang="en-US" sz="2320" dirty="0">
              <a:latin typeface="Times New Roman" panose="02020603050405020304" pitchFamily="18" charset="0"/>
              <a:cs typeface="Times New Roman" panose="02020603050405020304" pitchFamily="18" charset="0"/>
            </a:endParaRPr>
          </a:p>
        </p:txBody>
      </p:sp>
      <p:sp>
        <p:nvSpPr>
          <p:cNvPr id="20" name="Text 12"/>
          <p:cNvSpPr/>
          <p:nvPr/>
        </p:nvSpPr>
        <p:spPr>
          <a:xfrm>
            <a:off x="12097512" y="283464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2E2E2E"/>
                </a:solidFill>
                <a:latin typeface="Times New Roman" panose="02020603050405020304" pitchFamily="18" charset="0"/>
                <a:ea typeface="思源黑体-思源黑体-Regular" pitchFamily="34" charset="-122"/>
                <a:cs typeface="Times New Roman" panose="02020603050405020304" pitchFamily="18" charset="0"/>
              </a:rPr>
              <a:t>4</a:t>
            </a:r>
            <a:endParaRPr lang="en-US" sz="23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DE17-BEF6-3033-00E1-19354A9432F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03DC60F-3901-5377-2083-BF5CFEAD6809}"/>
              </a:ext>
            </a:extLst>
          </p:cNvPr>
          <p:cNvPicPr>
            <a:picLocks noChangeAspect="1"/>
          </p:cNvPicPr>
          <p:nvPr/>
        </p:nvPicPr>
        <p:blipFill>
          <a:blip r:embed="rId3"/>
          <a:stretch>
            <a:fillRect/>
          </a:stretch>
        </p:blipFill>
        <p:spPr>
          <a:xfrm>
            <a:off x="0" y="0"/>
            <a:ext cx="14630400" cy="8238744"/>
          </a:xfrm>
          <a:prstGeom prst="rect">
            <a:avLst/>
          </a:prstGeom>
        </p:spPr>
      </p:pic>
      <p:sp>
        <p:nvSpPr>
          <p:cNvPr id="8" name="Text 0">
            <a:extLst>
              <a:ext uri="{FF2B5EF4-FFF2-40B4-BE49-F238E27FC236}">
                <a16:creationId xmlns:a16="http://schemas.microsoft.com/office/drawing/2014/main" id="{1AE8971A-9A2C-7CB0-FCB9-D4E2C916BC12}"/>
              </a:ext>
            </a:extLst>
          </p:cNvPr>
          <p:cNvSpPr/>
          <p:nvPr/>
        </p:nvSpPr>
        <p:spPr>
          <a:xfrm>
            <a:off x="10817352" y="3877056"/>
            <a:ext cx="2743200" cy="374904"/>
          </a:xfrm>
          <a:prstGeom prst="rect">
            <a:avLst/>
          </a:prstGeom>
          <a:noFill/>
          <a:ln/>
        </p:spPr>
        <p:txBody>
          <a:bodyPr wrap="none" lIns="0" tIns="0" rIns="0" bIns="0" rtlCol="0" anchor="ctr"/>
          <a:lstStyle/>
          <a:p>
            <a:pPr marL="0" indent="0" algn="ctr">
              <a:lnSpc>
                <a:spcPts val="2900"/>
              </a:lnSpc>
              <a:buNone/>
            </a:pPr>
            <a:endParaRPr lang="en-US" sz="2320" dirty="0"/>
          </a:p>
        </p:txBody>
      </p:sp>
      <p:sp>
        <p:nvSpPr>
          <p:cNvPr id="9" name="Text 1">
            <a:extLst>
              <a:ext uri="{FF2B5EF4-FFF2-40B4-BE49-F238E27FC236}">
                <a16:creationId xmlns:a16="http://schemas.microsoft.com/office/drawing/2014/main" id="{6A0583C6-68DC-94C0-9C43-8E92B456EDFB}"/>
              </a:ext>
            </a:extLst>
          </p:cNvPr>
          <p:cNvSpPr/>
          <p:nvPr/>
        </p:nvSpPr>
        <p:spPr>
          <a:xfrm>
            <a:off x="4325112" y="4379976"/>
            <a:ext cx="2743200" cy="1417320"/>
          </a:xfrm>
          <a:prstGeom prst="rect">
            <a:avLst/>
          </a:prstGeom>
          <a:noFill/>
          <a:ln/>
        </p:spPr>
        <p:txBody>
          <a:bodyPr wrap="square" lIns="0" tIns="0" rIns="0" bIns="0" rtlCol="0" anchor="ctr"/>
          <a:lstStyle/>
          <a:p>
            <a:pPr marL="0" indent="0" algn="ctr">
              <a:lnSpc>
                <a:spcPts val="2780"/>
              </a:lnSpc>
              <a:buNone/>
            </a:pPr>
            <a:endParaRPr lang="en-US" sz="1850" dirty="0"/>
          </a:p>
        </p:txBody>
      </p:sp>
      <p:sp>
        <p:nvSpPr>
          <p:cNvPr id="10" name="Text 2">
            <a:extLst>
              <a:ext uri="{FF2B5EF4-FFF2-40B4-BE49-F238E27FC236}">
                <a16:creationId xmlns:a16="http://schemas.microsoft.com/office/drawing/2014/main" id="{9405F658-C81E-87F7-37F3-FA50CA1D541E}"/>
              </a:ext>
            </a:extLst>
          </p:cNvPr>
          <p:cNvSpPr/>
          <p:nvPr/>
        </p:nvSpPr>
        <p:spPr>
          <a:xfrm>
            <a:off x="1078992" y="4379976"/>
            <a:ext cx="2743200" cy="1417320"/>
          </a:xfrm>
          <a:prstGeom prst="rect">
            <a:avLst/>
          </a:prstGeom>
          <a:noFill/>
          <a:ln/>
        </p:spPr>
        <p:txBody>
          <a:bodyPr wrap="square" lIns="0" tIns="0" rIns="0" bIns="0" rtlCol="0" anchor="ctr"/>
          <a:lstStyle/>
          <a:p>
            <a:pPr marL="0" indent="0" algn="ctr">
              <a:lnSpc>
                <a:spcPts val="2780"/>
              </a:lnSpc>
              <a:buNone/>
            </a:pPr>
            <a:endParaRPr lang="en-US" sz="1850" dirty="0"/>
          </a:p>
        </p:txBody>
      </p:sp>
      <p:sp>
        <p:nvSpPr>
          <p:cNvPr id="11" name="Text 3">
            <a:extLst>
              <a:ext uri="{FF2B5EF4-FFF2-40B4-BE49-F238E27FC236}">
                <a16:creationId xmlns:a16="http://schemas.microsoft.com/office/drawing/2014/main" id="{F0870892-B905-65F7-2E45-3EA070FEBED3}"/>
              </a:ext>
            </a:extLst>
          </p:cNvPr>
          <p:cNvSpPr/>
          <p:nvPr/>
        </p:nvSpPr>
        <p:spPr>
          <a:xfrm>
            <a:off x="10817352" y="4379976"/>
            <a:ext cx="2743200" cy="1417320"/>
          </a:xfrm>
          <a:prstGeom prst="rect">
            <a:avLst/>
          </a:prstGeom>
          <a:noFill/>
          <a:ln/>
        </p:spPr>
        <p:txBody>
          <a:bodyPr wrap="square" lIns="0" tIns="0" rIns="0" bIns="0" rtlCol="0" anchor="ctr"/>
          <a:lstStyle/>
          <a:p>
            <a:pPr marL="0" indent="0" algn="ctr">
              <a:lnSpc>
                <a:spcPts val="2780"/>
              </a:lnSpc>
              <a:buNone/>
            </a:pPr>
            <a:endParaRPr lang="en-US" sz="1850" dirty="0"/>
          </a:p>
        </p:txBody>
      </p:sp>
      <p:sp>
        <p:nvSpPr>
          <p:cNvPr id="12" name="Text 4">
            <a:extLst>
              <a:ext uri="{FF2B5EF4-FFF2-40B4-BE49-F238E27FC236}">
                <a16:creationId xmlns:a16="http://schemas.microsoft.com/office/drawing/2014/main" id="{20585AFA-1046-E040-22CE-090FE4454854}"/>
              </a:ext>
            </a:extLst>
          </p:cNvPr>
          <p:cNvSpPr/>
          <p:nvPr/>
        </p:nvSpPr>
        <p:spPr>
          <a:xfrm>
            <a:off x="7571232" y="3877056"/>
            <a:ext cx="2743200" cy="740664"/>
          </a:xfrm>
          <a:prstGeom prst="rect">
            <a:avLst/>
          </a:prstGeom>
          <a:noFill/>
          <a:ln/>
        </p:spPr>
        <p:txBody>
          <a:bodyPr wrap="square" lIns="0" tIns="0" rIns="0" bIns="0" rtlCol="0" anchor="ctr"/>
          <a:lstStyle/>
          <a:p>
            <a:pPr marL="0" indent="0" algn="ctr">
              <a:lnSpc>
                <a:spcPts val="2900"/>
              </a:lnSpc>
              <a:buNone/>
            </a:pPr>
            <a:endParaRPr lang="en-US" sz="2320" dirty="0"/>
          </a:p>
        </p:txBody>
      </p:sp>
      <p:sp>
        <p:nvSpPr>
          <p:cNvPr id="13" name="Text 5">
            <a:extLst>
              <a:ext uri="{FF2B5EF4-FFF2-40B4-BE49-F238E27FC236}">
                <a16:creationId xmlns:a16="http://schemas.microsoft.com/office/drawing/2014/main" id="{E568BBDF-0423-7481-915F-590C236E3CD7}"/>
              </a:ext>
            </a:extLst>
          </p:cNvPr>
          <p:cNvSpPr/>
          <p:nvPr/>
        </p:nvSpPr>
        <p:spPr>
          <a:xfrm>
            <a:off x="1078992" y="3877056"/>
            <a:ext cx="2743200" cy="374904"/>
          </a:xfrm>
          <a:prstGeom prst="rect">
            <a:avLst/>
          </a:prstGeom>
          <a:noFill/>
          <a:ln/>
        </p:spPr>
        <p:txBody>
          <a:bodyPr wrap="none" lIns="0" tIns="0" rIns="0" bIns="0" rtlCol="0" anchor="ctr"/>
          <a:lstStyle/>
          <a:p>
            <a:pPr marL="0" indent="0" algn="ctr">
              <a:lnSpc>
                <a:spcPts val="2900"/>
              </a:lnSpc>
              <a:buNone/>
            </a:pPr>
            <a:endParaRPr lang="en-US" sz="2320" dirty="0"/>
          </a:p>
        </p:txBody>
      </p:sp>
      <p:sp>
        <p:nvSpPr>
          <p:cNvPr id="14" name="Text 6">
            <a:extLst>
              <a:ext uri="{FF2B5EF4-FFF2-40B4-BE49-F238E27FC236}">
                <a16:creationId xmlns:a16="http://schemas.microsoft.com/office/drawing/2014/main" id="{4A278725-E594-D515-AF2A-EFBED3B881BA}"/>
              </a:ext>
            </a:extLst>
          </p:cNvPr>
          <p:cNvSpPr/>
          <p:nvPr/>
        </p:nvSpPr>
        <p:spPr>
          <a:xfrm>
            <a:off x="576072" y="552543"/>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Outcomes</a:t>
            </a:r>
            <a:endParaRPr lang="en-US" sz="4640" dirty="0">
              <a:latin typeface="Times New Roman" panose="02020603050405020304" pitchFamily="18" charset="0"/>
              <a:cs typeface="Times New Roman" panose="02020603050405020304" pitchFamily="18" charset="0"/>
            </a:endParaRPr>
          </a:p>
        </p:txBody>
      </p:sp>
      <p:sp>
        <p:nvSpPr>
          <p:cNvPr id="15" name="Text 7">
            <a:extLst>
              <a:ext uri="{FF2B5EF4-FFF2-40B4-BE49-F238E27FC236}">
                <a16:creationId xmlns:a16="http://schemas.microsoft.com/office/drawing/2014/main" id="{D54ADA00-73AD-4C53-DEFE-F5CCE855D79B}"/>
              </a:ext>
            </a:extLst>
          </p:cNvPr>
          <p:cNvSpPr/>
          <p:nvPr/>
        </p:nvSpPr>
        <p:spPr>
          <a:xfrm>
            <a:off x="2368296" y="2834640"/>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6" name="Text 8">
            <a:extLst>
              <a:ext uri="{FF2B5EF4-FFF2-40B4-BE49-F238E27FC236}">
                <a16:creationId xmlns:a16="http://schemas.microsoft.com/office/drawing/2014/main" id="{88638912-7880-FE7E-61E3-9F0BFCF6B1DE}"/>
              </a:ext>
            </a:extLst>
          </p:cNvPr>
          <p:cNvSpPr/>
          <p:nvPr/>
        </p:nvSpPr>
        <p:spPr>
          <a:xfrm>
            <a:off x="5614416" y="2834640"/>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7" name="Text 9">
            <a:extLst>
              <a:ext uri="{FF2B5EF4-FFF2-40B4-BE49-F238E27FC236}">
                <a16:creationId xmlns:a16="http://schemas.microsoft.com/office/drawing/2014/main" id="{F03360C9-154C-1474-DFE6-33EBE9FB0377}"/>
              </a:ext>
            </a:extLst>
          </p:cNvPr>
          <p:cNvSpPr/>
          <p:nvPr/>
        </p:nvSpPr>
        <p:spPr>
          <a:xfrm>
            <a:off x="8860536" y="2834640"/>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18" name="Text 10">
            <a:extLst>
              <a:ext uri="{FF2B5EF4-FFF2-40B4-BE49-F238E27FC236}">
                <a16:creationId xmlns:a16="http://schemas.microsoft.com/office/drawing/2014/main" id="{A586F950-C8C2-8F23-45F6-B339DC72F616}"/>
              </a:ext>
            </a:extLst>
          </p:cNvPr>
          <p:cNvSpPr/>
          <p:nvPr/>
        </p:nvSpPr>
        <p:spPr>
          <a:xfrm>
            <a:off x="7571232" y="4754880"/>
            <a:ext cx="2743200" cy="1417320"/>
          </a:xfrm>
          <a:prstGeom prst="rect">
            <a:avLst/>
          </a:prstGeom>
          <a:noFill/>
          <a:ln/>
        </p:spPr>
        <p:txBody>
          <a:bodyPr wrap="square" lIns="0" tIns="0" rIns="0" bIns="0" rtlCol="0" anchor="ctr"/>
          <a:lstStyle/>
          <a:p>
            <a:pPr marL="0" indent="0" algn="ctr">
              <a:lnSpc>
                <a:spcPts val="2780"/>
              </a:lnSpc>
              <a:buNone/>
            </a:pPr>
            <a:endParaRPr lang="en-US" sz="1850" dirty="0"/>
          </a:p>
        </p:txBody>
      </p:sp>
      <p:sp>
        <p:nvSpPr>
          <p:cNvPr id="19" name="Text 11">
            <a:extLst>
              <a:ext uri="{FF2B5EF4-FFF2-40B4-BE49-F238E27FC236}">
                <a16:creationId xmlns:a16="http://schemas.microsoft.com/office/drawing/2014/main" id="{7032C660-2354-A68B-7386-183B91D27186}"/>
              </a:ext>
            </a:extLst>
          </p:cNvPr>
          <p:cNvSpPr/>
          <p:nvPr/>
        </p:nvSpPr>
        <p:spPr>
          <a:xfrm>
            <a:off x="4325112" y="3877056"/>
            <a:ext cx="2743200" cy="374904"/>
          </a:xfrm>
          <a:prstGeom prst="rect">
            <a:avLst/>
          </a:prstGeom>
          <a:noFill/>
          <a:ln/>
        </p:spPr>
        <p:txBody>
          <a:bodyPr wrap="none" lIns="0" tIns="0" rIns="0" bIns="0" rtlCol="0" anchor="ctr"/>
          <a:lstStyle/>
          <a:p>
            <a:pPr marL="0" indent="0" algn="ctr">
              <a:lnSpc>
                <a:spcPts val="2900"/>
              </a:lnSpc>
              <a:buNone/>
            </a:pPr>
            <a:endParaRPr lang="en-US" sz="2320" dirty="0"/>
          </a:p>
        </p:txBody>
      </p:sp>
      <p:sp>
        <p:nvSpPr>
          <p:cNvPr id="20" name="Text 12">
            <a:extLst>
              <a:ext uri="{FF2B5EF4-FFF2-40B4-BE49-F238E27FC236}">
                <a16:creationId xmlns:a16="http://schemas.microsoft.com/office/drawing/2014/main" id="{8C14C8EB-39EC-2D5E-62FE-B14F1A541E77}"/>
              </a:ext>
            </a:extLst>
          </p:cNvPr>
          <p:cNvSpPr/>
          <p:nvPr/>
        </p:nvSpPr>
        <p:spPr>
          <a:xfrm>
            <a:off x="12097512" y="2834640"/>
            <a:ext cx="173736" cy="438912"/>
          </a:xfrm>
          <a:prstGeom prst="rect">
            <a:avLst/>
          </a:prstGeom>
          <a:noFill/>
          <a:ln/>
        </p:spPr>
        <p:txBody>
          <a:bodyPr wrap="none" lIns="0" tIns="0" rIns="0" bIns="0" rtlCol="0" anchor="ctr"/>
          <a:lstStyle/>
          <a:p>
            <a:pPr marL="0" indent="0" algn="ctr">
              <a:lnSpc>
                <a:spcPts val="2780"/>
              </a:lnSpc>
              <a:buNone/>
            </a:pPr>
            <a:endParaRPr lang="en-US" sz="2320" dirty="0"/>
          </a:p>
        </p:txBody>
      </p:sp>
      <p:pic>
        <p:nvPicPr>
          <p:cNvPr id="21" name="Picture 20">
            <a:extLst>
              <a:ext uri="{FF2B5EF4-FFF2-40B4-BE49-F238E27FC236}">
                <a16:creationId xmlns:a16="http://schemas.microsoft.com/office/drawing/2014/main" id="{0365C880-DB14-40FB-282B-C563690BDB5D}"/>
              </a:ext>
            </a:extLst>
          </p:cNvPr>
          <p:cNvPicPr>
            <a:picLocks noChangeAspect="1"/>
          </p:cNvPicPr>
          <p:nvPr/>
        </p:nvPicPr>
        <p:blipFill>
          <a:blip r:embed="rId4"/>
          <a:stretch>
            <a:fillRect/>
          </a:stretch>
        </p:blipFill>
        <p:spPr>
          <a:xfrm>
            <a:off x="2359152" y="1354167"/>
            <a:ext cx="3795903" cy="6559296"/>
          </a:xfrm>
          <a:prstGeom prst="rect">
            <a:avLst/>
          </a:prstGeom>
        </p:spPr>
      </p:pic>
      <p:pic>
        <p:nvPicPr>
          <p:cNvPr id="25" name="Picture 24">
            <a:extLst>
              <a:ext uri="{FF2B5EF4-FFF2-40B4-BE49-F238E27FC236}">
                <a16:creationId xmlns:a16="http://schemas.microsoft.com/office/drawing/2014/main" id="{969A5411-B407-FD04-EB4B-5726F2CD099E}"/>
              </a:ext>
            </a:extLst>
          </p:cNvPr>
          <p:cNvPicPr>
            <a:picLocks noChangeAspect="1"/>
          </p:cNvPicPr>
          <p:nvPr/>
        </p:nvPicPr>
        <p:blipFill>
          <a:blip r:embed="rId5"/>
          <a:stretch>
            <a:fillRect/>
          </a:stretch>
        </p:blipFill>
        <p:spPr>
          <a:xfrm>
            <a:off x="7743042" y="1387602"/>
            <a:ext cx="3863998" cy="6525861"/>
          </a:xfrm>
          <a:prstGeom prst="rect">
            <a:avLst/>
          </a:prstGeom>
        </p:spPr>
      </p:pic>
    </p:spTree>
    <p:extLst>
      <p:ext uri="{BB962C8B-B14F-4D97-AF65-F5344CB8AC3E}">
        <p14:creationId xmlns:p14="http://schemas.microsoft.com/office/powerpoint/2010/main" val="380535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44"/>
            <a:ext cx="14630400" cy="8238744"/>
          </a:xfrm>
          <a:prstGeom prst="rect">
            <a:avLst/>
          </a:prstGeom>
        </p:spPr>
      </p:pic>
      <p:sp>
        <p:nvSpPr>
          <p:cNvPr id="4" name="Text 0"/>
          <p:cNvSpPr/>
          <p:nvPr/>
        </p:nvSpPr>
        <p:spPr>
          <a:xfrm>
            <a:off x="832104" y="384048"/>
            <a:ext cx="12984480" cy="1932432"/>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Benefits of the Bot</a:t>
            </a:r>
            <a:endParaRPr lang="en-US" sz="4640" dirty="0">
              <a:latin typeface="Times New Roman" panose="02020603050405020304" pitchFamily="18" charset="0"/>
              <a:cs typeface="Times New Roman" panose="02020603050405020304" pitchFamily="18" charset="0"/>
            </a:endParaRPr>
          </a:p>
        </p:txBody>
      </p:sp>
      <p:sp>
        <p:nvSpPr>
          <p:cNvPr id="5" name="Text 1"/>
          <p:cNvSpPr/>
          <p:nvPr/>
        </p:nvSpPr>
        <p:spPr>
          <a:xfrm>
            <a:off x="1078992" y="3858768"/>
            <a:ext cx="3831336" cy="1773936"/>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Automating the booking process reduces the need for human agents, leading to significant operational cost savings for hotels.</a:t>
            </a:r>
            <a:endParaRPr lang="en-US" sz="2000" dirty="0">
              <a:latin typeface="Times New Roman" panose="02020603050405020304" pitchFamily="18" charset="0"/>
              <a:cs typeface="Times New Roman" panose="02020603050405020304" pitchFamily="18" charset="0"/>
            </a:endParaRPr>
          </a:p>
        </p:txBody>
      </p:sp>
      <p:sp>
        <p:nvSpPr>
          <p:cNvPr id="6" name="Text 2"/>
          <p:cNvSpPr/>
          <p:nvPr/>
        </p:nvSpPr>
        <p:spPr>
          <a:xfrm>
            <a:off x="5404104" y="3346704"/>
            <a:ext cx="3831336"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Increased Booking Rates:</a:t>
            </a:r>
            <a:endParaRPr lang="en-US" sz="2320" dirty="0">
              <a:latin typeface="Times New Roman" panose="02020603050405020304" pitchFamily="18" charset="0"/>
              <a:cs typeface="Times New Roman" panose="02020603050405020304" pitchFamily="18" charset="0"/>
            </a:endParaRPr>
          </a:p>
        </p:txBody>
      </p:sp>
      <p:sp>
        <p:nvSpPr>
          <p:cNvPr id="7" name="Text 3"/>
          <p:cNvSpPr/>
          <p:nvPr/>
        </p:nvSpPr>
        <p:spPr>
          <a:xfrm>
            <a:off x="9729216" y="3346704"/>
            <a:ext cx="3831336"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Data Insights:</a:t>
            </a:r>
            <a:endParaRPr lang="en-US" sz="2320" dirty="0">
              <a:latin typeface="Times New Roman" panose="02020603050405020304" pitchFamily="18" charset="0"/>
              <a:cs typeface="Times New Roman" panose="02020603050405020304" pitchFamily="18" charset="0"/>
            </a:endParaRPr>
          </a:p>
        </p:txBody>
      </p:sp>
      <p:sp>
        <p:nvSpPr>
          <p:cNvPr id="8" name="Text 4"/>
          <p:cNvSpPr/>
          <p:nvPr/>
        </p:nvSpPr>
        <p:spPr>
          <a:xfrm>
            <a:off x="5404104" y="4114800"/>
            <a:ext cx="3831336" cy="1161288"/>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24/7 availability of the bot encourages more bookings, as customers can make reservations at any time.</a:t>
            </a:r>
            <a:endParaRPr lang="en-US" sz="2000" dirty="0">
              <a:latin typeface="Times New Roman" panose="02020603050405020304" pitchFamily="18" charset="0"/>
              <a:cs typeface="Times New Roman" panose="02020603050405020304" pitchFamily="18" charset="0"/>
            </a:endParaRPr>
          </a:p>
        </p:txBody>
      </p:sp>
      <p:sp>
        <p:nvSpPr>
          <p:cNvPr id="9" name="Text 5"/>
          <p:cNvSpPr/>
          <p:nvPr/>
        </p:nvSpPr>
        <p:spPr>
          <a:xfrm>
            <a:off x="1078992" y="3346704"/>
            <a:ext cx="3831336" cy="374904"/>
          </a:xfrm>
          <a:prstGeom prst="rect">
            <a:avLst/>
          </a:prstGeom>
          <a:noFill/>
          <a:ln/>
        </p:spPr>
        <p:txBody>
          <a:bodyPr wrap="none" lIns="0" tIns="0" rIns="0" bIns="0" rtlCol="0" anchor="ctr"/>
          <a:lstStyle/>
          <a:p>
            <a:pPr marL="0" indent="0" algn="l">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Cost Efficiency:</a:t>
            </a:r>
            <a:endParaRPr lang="en-US" sz="2320" dirty="0">
              <a:latin typeface="Times New Roman" panose="02020603050405020304" pitchFamily="18" charset="0"/>
              <a:cs typeface="Times New Roman" panose="02020603050405020304" pitchFamily="18" charset="0"/>
            </a:endParaRPr>
          </a:p>
        </p:txBody>
      </p:sp>
      <p:sp>
        <p:nvSpPr>
          <p:cNvPr id="10" name="Text 6"/>
          <p:cNvSpPr/>
          <p:nvPr/>
        </p:nvSpPr>
        <p:spPr>
          <a:xfrm>
            <a:off x="9729216" y="3858768"/>
            <a:ext cx="4291584" cy="1773936"/>
          </a:xfrm>
          <a:prstGeom prst="rect">
            <a:avLst/>
          </a:prstGeom>
          <a:noFill/>
          <a:ln/>
        </p:spPr>
        <p:txBody>
          <a:bodyPr wrap="square" lIns="0" tIns="0" rIns="0" bIns="0" rtlCol="0" anchor="ctr"/>
          <a:lstStyle/>
          <a:p>
            <a:pPr marL="0" indent="0" algn="l">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bot collects valuable data on user preferences and behavior, enabling hotels to tailor their services and marketing strategies effectively.</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7" name="Text 0"/>
          <p:cNvSpPr/>
          <p:nvPr/>
        </p:nvSpPr>
        <p:spPr>
          <a:xfrm>
            <a:off x="1078992" y="3502152"/>
            <a:ext cx="3675888" cy="2130552"/>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Continuous updates and enhancements to the bot will improve its functionality, including better NLP capabilities and more integrated services.</a:t>
            </a:r>
            <a:endParaRPr lang="en-US" sz="2000" dirty="0">
              <a:latin typeface="Times New Roman" panose="02020603050405020304" pitchFamily="18" charset="0"/>
              <a:cs typeface="Times New Roman" panose="02020603050405020304" pitchFamily="18" charset="0"/>
            </a:endParaRPr>
          </a:p>
        </p:txBody>
      </p:sp>
      <p:sp>
        <p:nvSpPr>
          <p:cNvPr id="8" name="Text 1"/>
          <p:cNvSpPr/>
          <p:nvPr/>
        </p:nvSpPr>
        <p:spPr>
          <a:xfrm>
            <a:off x="5212080" y="3108960"/>
            <a:ext cx="3950208" cy="2871216"/>
          </a:xfrm>
          <a:prstGeom prst="rect">
            <a:avLst/>
          </a:prstGeom>
          <a:noFill/>
          <a:ln/>
        </p:spPr>
        <p:txBody>
          <a:bodyPr wrap="square" lIns="0" tIns="0" rIns="0" bIns="0" rtlCol="0" anchor="ctr"/>
          <a:lstStyle/>
          <a:p>
            <a:pPr marL="0" indent="0">
              <a:lnSpc>
                <a:spcPts val="2780"/>
              </a:lnSpc>
              <a:buNone/>
            </a:pPr>
            <a:r>
              <a:rPr lang="en-US" sz="200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Future integrations could include more payment options, loyalty programs, and additional communication channels for a more comprehensive user experience.</a:t>
            </a:r>
            <a:endParaRPr lang="en-US" sz="2000" dirty="0">
              <a:latin typeface="Times New Roman" panose="02020603050405020304" pitchFamily="18" charset="0"/>
              <a:cs typeface="Times New Roman" panose="02020603050405020304" pitchFamily="18" charset="0"/>
            </a:endParaRPr>
          </a:p>
        </p:txBody>
      </p:sp>
      <p:sp>
        <p:nvSpPr>
          <p:cNvPr id="9" name="Text 2"/>
          <p:cNvSpPr/>
          <p:nvPr/>
        </p:nvSpPr>
        <p:spPr>
          <a:xfrm>
            <a:off x="1078992" y="2999232"/>
            <a:ext cx="2895600"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Ongoing Improvements:</a:t>
            </a:r>
            <a:endParaRPr lang="en-US" sz="2320" dirty="0">
              <a:latin typeface="Times New Roman" panose="02020603050405020304" pitchFamily="18" charset="0"/>
              <a:cs typeface="Times New Roman" panose="02020603050405020304" pitchFamily="18" charset="0"/>
            </a:endParaRPr>
          </a:p>
        </p:txBody>
      </p:sp>
      <p:sp>
        <p:nvSpPr>
          <p:cNvPr id="10" name="Text 3"/>
          <p:cNvSpPr/>
          <p:nvPr/>
        </p:nvSpPr>
        <p:spPr>
          <a:xfrm>
            <a:off x="5315712" y="2999232"/>
            <a:ext cx="3066288"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Expansion Possibilities:</a:t>
            </a:r>
            <a:endParaRPr lang="en-US" sz="2320" dirty="0">
              <a:latin typeface="Times New Roman" panose="02020603050405020304" pitchFamily="18" charset="0"/>
              <a:cs typeface="Times New Roman" panose="02020603050405020304" pitchFamily="18" charset="0"/>
            </a:endParaRPr>
          </a:p>
        </p:txBody>
      </p:sp>
      <p:sp>
        <p:nvSpPr>
          <p:cNvPr id="11" name="Text 4"/>
          <p:cNvSpPr/>
          <p:nvPr/>
        </p:nvSpPr>
        <p:spPr>
          <a:xfrm>
            <a:off x="9619488" y="2999232"/>
            <a:ext cx="3169920" cy="374904"/>
          </a:xfrm>
          <a:prstGeom prst="rect">
            <a:avLst/>
          </a:prstGeom>
          <a:noFill/>
          <a:ln/>
        </p:spPr>
        <p:txBody>
          <a:bodyPr wrap="none" lIns="0" tIns="0" rIns="0" bIns="0" rtlCol="0" anchor="ctr"/>
          <a:lstStyle/>
          <a:p>
            <a:pPr marL="0" indent="0" algn="ctr">
              <a:lnSpc>
                <a:spcPts val="2900"/>
              </a:lnSpc>
              <a:buNone/>
            </a:pPr>
            <a:r>
              <a:rPr lang="en-US" sz="2320" dirty="0">
                <a:solidFill>
                  <a:srgbClr val="494848"/>
                </a:solidFill>
                <a:latin typeface="Times New Roman" panose="02020603050405020304" pitchFamily="18" charset="0"/>
                <a:ea typeface="思源黑体-思源黑体-SemiBold" pitchFamily="34" charset="-122"/>
                <a:cs typeface="Times New Roman" panose="02020603050405020304" pitchFamily="18" charset="0"/>
              </a:rPr>
              <a:t>Broader Applications:</a:t>
            </a:r>
            <a:endParaRPr lang="en-US" sz="2320" dirty="0">
              <a:latin typeface="Times New Roman" panose="02020603050405020304" pitchFamily="18" charset="0"/>
              <a:cs typeface="Times New Roman" panose="02020603050405020304" pitchFamily="18" charset="0"/>
            </a:endParaRPr>
          </a:p>
        </p:txBody>
      </p:sp>
      <p:sp>
        <p:nvSpPr>
          <p:cNvPr id="12" name="Text 5"/>
          <p:cNvSpPr/>
          <p:nvPr/>
        </p:nvSpPr>
        <p:spPr>
          <a:xfrm>
            <a:off x="832104" y="740664"/>
            <a:ext cx="12984480" cy="1307592"/>
          </a:xfrm>
          <a:prstGeom prst="rect">
            <a:avLst/>
          </a:prstGeom>
          <a:noFill/>
          <a:ln/>
        </p:spPr>
        <p:txBody>
          <a:bodyPr wrap="none" lIns="0" tIns="0" rIns="0" bIns="0" rtlCol="0" anchor="ctr"/>
          <a:lstStyle/>
          <a:p>
            <a:pPr marL="0" indent="0" algn="l">
              <a:lnSpc>
                <a:spcPts val="5800"/>
              </a:lnSpc>
              <a:buNone/>
            </a:pPr>
            <a:r>
              <a:rPr lang="en-US" sz="4640" dirty="0">
                <a:solidFill>
                  <a:srgbClr val="343435"/>
                </a:solidFill>
                <a:latin typeface="Times New Roman" panose="02020603050405020304" pitchFamily="18" charset="0"/>
                <a:ea typeface="思源黑体-思源黑体-SemiBold" pitchFamily="34" charset="-122"/>
                <a:cs typeface="Times New Roman" panose="02020603050405020304" pitchFamily="18" charset="0"/>
              </a:rPr>
              <a:t>Conclusion and Future Work</a:t>
            </a:r>
            <a:endParaRPr lang="en-US" sz="4640" dirty="0">
              <a:latin typeface="Times New Roman" panose="02020603050405020304" pitchFamily="18" charset="0"/>
              <a:cs typeface="Times New Roman" panose="02020603050405020304" pitchFamily="18" charset="0"/>
            </a:endParaRPr>
          </a:p>
        </p:txBody>
      </p:sp>
      <p:sp>
        <p:nvSpPr>
          <p:cNvPr id="13" name="Text 6"/>
          <p:cNvSpPr/>
          <p:nvPr/>
        </p:nvSpPr>
        <p:spPr>
          <a:xfrm>
            <a:off x="9893808" y="3502152"/>
            <a:ext cx="3675888" cy="2130552"/>
          </a:xfrm>
          <a:prstGeom prst="rect">
            <a:avLst/>
          </a:prstGeom>
          <a:noFill/>
          <a:ln/>
        </p:spPr>
        <p:txBody>
          <a:bodyPr wrap="square" lIns="0" tIns="0" rIns="0" bIns="0" rtlCol="0" anchor="ctr"/>
          <a:lstStyle/>
          <a:p>
            <a:pPr marL="0" indent="0">
              <a:lnSpc>
                <a:spcPts val="2780"/>
              </a:lnSpc>
              <a:buNone/>
            </a:pPr>
            <a:r>
              <a:rPr lang="en-US" sz="1850" dirty="0">
                <a:solidFill>
                  <a:srgbClr val="494848"/>
                </a:solidFill>
                <a:latin typeface="Times New Roman" panose="02020603050405020304" pitchFamily="18" charset="0"/>
                <a:ea typeface="思源黑体-思源黑体-Regular" pitchFamily="34" charset="-122"/>
                <a:cs typeface="Times New Roman" panose="02020603050405020304" pitchFamily="18" charset="0"/>
              </a:rPr>
              <a:t>The technology and architecture used for the hotel booking bot can be adapted for other sectors, such as travel and retail, demonstrating its versatility.</a:t>
            </a:r>
            <a:endParaRPr lang="en-US" sz="185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790</Words>
  <Application>Microsoft Office PowerPoint</Application>
  <PresentationFormat>Custom</PresentationFormat>
  <Paragraphs>95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surya l</cp:lastModifiedBy>
  <cp:revision>8</cp:revision>
  <dcterms:created xsi:type="dcterms:W3CDTF">2025-06-19T05:03:24Z</dcterms:created>
  <dcterms:modified xsi:type="dcterms:W3CDTF">2025-07-10T14:49:46Z</dcterms:modified>
</cp:coreProperties>
</file>